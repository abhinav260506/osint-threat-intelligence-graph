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721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188720"/>
            <a:ext cx="9814255" cy="4389120"/>
          </a:xfrm>
          <a:prstGeom prst="rect">
            <a:avLst/>
          </a:prstGeom>
          <a:noFill/>
        </p:spPr>
        <p:txBody>
          <a:bodyPr wrap="square" lIns="0" tIns="0" rIns="0" bIns="0">
            <a:spAutoFit/>
          </a:bodyPr>
          <a:lstStyle/>
          <a:p>
            <a:pPr>
              <a:spcAft>
                <a:spcPts val="1000"/>
              </a:spcAft>
              <a:defRPr b="1" sz="1100">
                <a:solidFill>
                  <a:srgbClr val="06B6D4"/>
                </a:solidFill>
              </a:defRPr>
            </a:pPr>
            <a:r>
              <a:t>🛡️  PRODUCTION CYBER THREAT INTELLIGENCE &amp; GRAPH DATA SCIENCE</a:t>
            </a:r>
          </a:p>
          <a:p>
            <a:pPr>
              <a:spcAft>
                <a:spcPts val="800"/>
              </a:spcAft>
              <a:defRPr b="1" sz="4400">
                <a:solidFill>
                  <a:srgbClr val="FFFFFF"/>
                </a:solidFill>
              </a:defRPr>
            </a:pPr>
            <a:r>
              <a:t>ThreatGraph AI</a:t>
            </a:r>
          </a:p>
          <a:p>
            <a:pPr>
              <a:spcAft>
                <a:spcPts val="1400"/>
              </a:spcAft>
              <a:defRPr b="1" sz="1800">
                <a:solidFill>
                  <a:srgbClr val="38BDF8"/>
                </a:solidFill>
              </a:defRPr>
            </a:pPr>
            <a:r>
              <a:t>Autonomous Knowledge Graph Construction &amp; Explainable Link Discovery Platform</a:t>
            </a:r>
          </a:p>
          <a:p>
            <a:pPr>
              <a:spcAft>
                <a:spcPts val="2800"/>
              </a:spcAft>
              <a:defRPr sz="1200">
                <a:solidFill>
                  <a:srgbClr val="E2E8F0"/>
                </a:solidFill>
              </a:defRPr>
            </a:pPr>
            <a:r>
              <a:t>Transforms unstructured OSINT threat advisories (CISA, Mandiant, FBI) into an interactive, STIX 2.1-compliant Knowledge Graph stored in Neo4j. Discovers hidden adversary campaign links and shared C2 infrastructure using Graph Data Science and Machine Learning with verifiable, zero-hallucination evidence.</a:t>
            </a:r>
          </a:p>
          <a:p>
            <a:pPr>
              <a:defRPr b="1" sz="1050">
                <a:solidFill>
                  <a:srgbClr val="10B981"/>
                </a:solidFill>
              </a:defRPr>
            </a:pPr>
            <a:r>
              <a:t>CORE STACK:  Python 3.11+  |  FastAPI  |  Neo4j 5.18+  |  NetworkX 3.2  |  HDBSCAN ML  |  Cytoscape.js  |  STIX 2.1</a:t>
            </a:r>
          </a:p>
        </p:txBody>
      </p:sp>
      <p:sp>
        <p:nvSpPr>
          <p:cNvPr id="5" name="Rectangle 4"/>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 of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PROBLEM STATEMENT</a:t>
            </a:r>
          </a:p>
          <a:p>
            <a:pPr>
              <a:spcAft>
                <a:spcPts val="200"/>
              </a:spcAft>
              <a:defRPr b="1" sz="2100">
                <a:solidFill>
                  <a:srgbClr val="FFFFFF"/>
                </a:solidFill>
              </a:defRPr>
            </a:pPr>
            <a:r>
              <a:t>The Modern Cyber Threat Intelligence (CTI) Crisis</a:t>
            </a:r>
          </a:p>
          <a:p>
            <a:pPr>
              <a:defRPr sz="1100">
                <a:solidFill>
                  <a:srgbClr val="94A3B8"/>
                </a:solidFill>
              </a:defRPr>
            </a:pPr>
            <a:r>
              <a:t>Why legacy threat intelligence triage and relational databases fail against modern adversary operations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166360" cy="22402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10512"/>
            <a:ext cx="4709160" cy="1911096"/>
          </a:xfrm>
          <a:prstGeom prst="rect">
            <a:avLst/>
          </a:prstGeom>
          <a:noFill/>
        </p:spPr>
        <p:txBody>
          <a:bodyPr wrap="square" lIns="0" tIns="0" rIns="0" bIns="0">
            <a:spAutoFit/>
          </a:bodyPr>
          <a:lstStyle/>
          <a:p>
            <a:pPr>
              <a:spcAft>
                <a:spcPts val="200"/>
              </a:spcAft>
              <a:defRPr b="1" sz="1100">
                <a:solidFill>
                  <a:srgbClr val="F43F5E"/>
                </a:solidFill>
              </a:defRPr>
            </a:pPr>
            <a:r>
              <a:t>UNSTRUCTURED ADVISORY DELUGE</a:t>
            </a:r>
          </a:p>
          <a:p>
            <a:pPr>
              <a:spcAft>
                <a:spcPts val="600"/>
              </a:spcAft>
              <a:defRPr b="1" sz="1300">
                <a:solidFill>
                  <a:srgbClr val="FFFFFF"/>
                </a:solidFill>
              </a:defRPr>
            </a:pPr>
            <a:r>
              <a:t>100+ Advisories / Week</a:t>
            </a:r>
          </a:p>
          <a:p>
            <a:pPr>
              <a:defRPr sz="1000">
                <a:solidFill>
                  <a:srgbClr val="E2E8F0"/>
                </a:solidFill>
              </a:defRPr>
            </a:pPr>
            <a:r>
              <a:t>Security teams face an overwhelming avalanche of fragmented, unstructured threat reports (CISA alerts, Mandiant reports, FBI flash alerts, vendor blogs). Analysts spend 80% of triage time manually reading and copy-pasting IoCs rather than defending.</a:t>
            </a:r>
          </a:p>
        </p:txBody>
      </p:sp>
      <p:sp>
        <p:nvSpPr>
          <p:cNvPr id="7" name="Rounded Rectangle 6"/>
          <p:cNvSpPr/>
          <p:nvPr/>
        </p:nvSpPr>
        <p:spPr>
          <a:xfrm>
            <a:off x="6291072" y="1645920"/>
            <a:ext cx="5166360" cy="22402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810512"/>
            <a:ext cx="4709160" cy="1911096"/>
          </a:xfrm>
          <a:prstGeom prst="rect">
            <a:avLst/>
          </a:prstGeom>
          <a:noFill/>
        </p:spPr>
        <p:txBody>
          <a:bodyPr wrap="square" lIns="0" tIns="0" rIns="0" bIns="0">
            <a:spAutoFit/>
          </a:bodyPr>
          <a:lstStyle/>
          <a:p>
            <a:pPr>
              <a:spcAft>
                <a:spcPts val="200"/>
              </a:spcAft>
              <a:defRPr b="1" sz="1100">
                <a:solidFill>
                  <a:srgbClr val="F59E0B"/>
                </a:solidFill>
              </a:defRPr>
            </a:pPr>
            <a:r>
              <a:t>ADVERSARIAL ALIASING CHAOS</a:t>
            </a:r>
          </a:p>
          <a:p>
            <a:pPr>
              <a:spcAft>
                <a:spcPts val="600"/>
              </a:spcAft>
              <a:defRPr b="1" sz="1300">
                <a:solidFill>
                  <a:srgbClr val="FFFFFF"/>
                </a:solidFill>
              </a:defRPr>
            </a:pPr>
            <a:r>
              <a:t>10+ Aliases / Threat Actor</a:t>
            </a:r>
          </a:p>
          <a:p>
            <a:pPr>
              <a:defRPr sz="1000">
                <a:solidFill>
                  <a:srgbClr val="E2E8F0"/>
                </a:solidFill>
              </a:defRPr>
            </a:pPr>
            <a:r>
              <a:t>A single nation-state adversary is assigned dozens of overlapping designations across vendors (e.g. APT29 = Cozy Bear = NOBELIUM = Midnight Blizzard = UNC2452). Disparate naming creates intelligence fragmentation and blinds analysts to unified threat campaigns.</a:t>
            </a:r>
          </a:p>
        </p:txBody>
      </p:sp>
      <p:sp>
        <p:nvSpPr>
          <p:cNvPr id="9" name="Rounded Rectangle 8"/>
          <p:cNvSpPr/>
          <p:nvPr/>
        </p:nvSpPr>
        <p:spPr>
          <a:xfrm>
            <a:off x="731520" y="4069080"/>
            <a:ext cx="5166360" cy="22402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233672"/>
            <a:ext cx="4709160" cy="1911096"/>
          </a:xfrm>
          <a:prstGeom prst="rect">
            <a:avLst/>
          </a:prstGeom>
          <a:noFill/>
        </p:spPr>
        <p:txBody>
          <a:bodyPr wrap="square" lIns="0" tIns="0" rIns="0" bIns="0">
            <a:spAutoFit/>
          </a:bodyPr>
          <a:lstStyle/>
          <a:p>
            <a:pPr>
              <a:spcAft>
                <a:spcPts val="200"/>
              </a:spcAft>
              <a:defRPr b="1" sz="1100">
                <a:solidFill>
                  <a:srgbClr val="6366F1"/>
                </a:solidFill>
              </a:defRPr>
            </a:pPr>
            <a:r>
              <a:t>RELATIONAL DATABASE BOTTLENECK</a:t>
            </a:r>
          </a:p>
          <a:p>
            <a:pPr>
              <a:spcAft>
                <a:spcPts val="600"/>
              </a:spcAft>
              <a:defRPr b="1" sz="1300">
                <a:solidFill>
                  <a:srgbClr val="FFFFFF"/>
                </a:solidFill>
              </a:defRPr>
            </a:pPr>
            <a:r>
              <a:t>Exponential Multi-Hop JOIN Latency</a:t>
            </a:r>
          </a:p>
          <a:p>
            <a:pPr>
              <a:defRPr sz="1000">
                <a:solidFill>
                  <a:srgbClr val="E2E8F0"/>
                </a:solidFill>
              </a:defRPr>
            </a:pPr>
            <a:r>
              <a:t>Traversing multi-hop infrastructure connections (ThreatActor -&gt; USES -&gt; Malware -&gt; CONTACTS -&gt; Domain) requires complex, slow recursive SQL joins. Relational models choke on high-depth link exploration and cannot scale to dynamic CTI schemas.</a:t>
            </a:r>
          </a:p>
        </p:txBody>
      </p:sp>
      <p:sp>
        <p:nvSpPr>
          <p:cNvPr id="11" name="Rounded Rectangle 10"/>
          <p:cNvSpPr/>
          <p:nvPr/>
        </p:nvSpPr>
        <p:spPr>
          <a:xfrm>
            <a:off x="6291072" y="4069080"/>
            <a:ext cx="5166360" cy="22402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9672" y="4233672"/>
            <a:ext cx="4709160" cy="1911096"/>
          </a:xfrm>
          <a:prstGeom prst="rect">
            <a:avLst/>
          </a:prstGeom>
          <a:noFill/>
        </p:spPr>
        <p:txBody>
          <a:bodyPr wrap="square" lIns="0" tIns="0" rIns="0" bIns="0">
            <a:spAutoFit/>
          </a:bodyPr>
          <a:lstStyle/>
          <a:p>
            <a:pPr>
              <a:spcAft>
                <a:spcPts val="200"/>
              </a:spcAft>
              <a:defRPr b="1" sz="1100">
                <a:solidFill>
                  <a:srgbClr val="A855F7"/>
                </a:solidFill>
              </a:defRPr>
            </a:pPr>
            <a:r>
              <a:t>BLACK-BOX AI TRUST DEFICIT</a:t>
            </a:r>
          </a:p>
          <a:p>
            <a:pPr>
              <a:spcAft>
                <a:spcPts val="600"/>
              </a:spcAft>
              <a:defRPr b="1" sz="1300">
                <a:solidFill>
                  <a:srgbClr val="FFFFFF"/>
                </a:solidFill>
              </a:defRPr>
            </a:pPr>
            <a:r>
              <a:t>Zero Verifiable Provenance</a:t>
            </a:r>
          </a:p>
          <a:p>
            <a:pPr>
              <a:defRPr sz="1000">
                <a:solidFill>
                  <a:srgbClr val="E2E8F0"/>
                </a:solidFill>
              </a:defRPr>
            </a:pPr>
            <a:r>
              <a:t>Traditional machine learning models output arbitrary probability scores with zero forensic justification. SOC analysts cannot isolate critical servers or initiate blocklists without verifiable, cited evidence proving why two campaigns are related.</a:t>
            </a:r>
          </a:p>
        </p:txBody>
      </p:sp>
      <p:sp>
        <p:nvSpPr>
          <p:cNvPr id="13" name="Rectangle 12"/>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2 of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PLATFORM SOLUTION</a:t>
            </a:r>
          </a:p>
          <a:p>
            <a:pPr>
              <a:spcAft>
                <a:spcPts val="200"/>
              </a:spcAft>
              <a:defRPr b="1" sz="2100">
                <a:solidFill>
                  <a:srgbClr val="FFFFFF"/>
                </a:solidFill>
              </a:defRPr>
            </a:pPr>
            <a:r>
              <a:t>The ThreatGraph AI Autonomous Intelligence Pipeline</a:t>
            </a:r>
          </a:p>
          <a:p>
            <a:pPr>
              <a:defRPr sz="1100">
                <a:solidFill>
                  <a:srgbClr val="94A3B8"/>
                </a:solidFill>
              </a:defRPr>
            </a:pPr>
            <a:r>
              <a:t>A 4-stage pipeline transforming raw reports into an interactive, explainable cyber threat graph</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76272" cy="3200400"/>
          </a:xfrm>
          <a:prstGeom prst="rect">
            <a:avLst/>
          </a:prstGeom>
          <a:noFill/>
        </p:spPr>
        <p:txBody>
          <a:bodyPr wrap="square" lIns="0" tIns="0" rIns="0" bIns="0">
            <a:spAutoFit/>
          </a:bodyPr>
          <a:lstStyle/>
          <a:p>
            <a:pPr>
              <a:spcAft>
                <a:spcPts val="200"/>
              </a:spcAft>
              <a:defRPr b="1" sz="1000">
                <a:solidFill>
                  <a:srgbClr val="06B6D4"/>
                </a:solidFill>
              </a:defRPr>
            </a:pPr>
            <a:r>
              <a:t>STAGE 1</a:t>
            </a:r>
          </a:p>
          <a:p>
            <a:pPr>
              <a:spcAft>
                <a:spcPts val="1200"/>
              </a:spcAft>
              <a:defRPr b="1" sz="1300">
                <a:solidFill>
                  <a:srgbClr val="FFFFFF"/>
                </a:solidFill>
              </a:defRPr>
            </a:pPr>
            <a:r>
              <a:t>Deterministic Extraction</a:t>
            </a:r>
          </a:p>
          <a:p>
            <a:pPr>
              <a:defRPr sz="950">
                <a:solidFill>
                  <a:srgbClr val="E2E8F0"/>
                </a:solidFill>
              </a:defRPr>
            </a:pPr>
            <a:r>
              <a:t>• Layered Regex Engine</a:t>
            </a:r>
            <a:br/>
            <a:r>
              <a:t>• RFC 791/1035 Syntax Validation</a:t>
            </a:r>
            <a:br/>
            <a:r>
              <a:t>• Defanging &amp; Refanging Engine</a:t>
            </a:r>
            <a:br/>
            <a:r>
              <a:t>• Extracts IPs, Domains, Hashes, CVEs, ATT&amp;CK TTPs</a:t>
            </a:r>
            <a:br/>
            <a:r>
              <a:t>• 98.4% Recall on Network IoCs</a:t>
            </a:r>
          </a:p>
        </p:txBody>
      </p:sp>
      <p:sp>
        <p:nvSpPr>
          <p:cNvPr id="7" name="Rounded Rectangle 6"/>
          <p:cNvSpPr/>
          <p:nvPr/>
        </p:nvSpPr>
        <p:spPr>
          <a:xfrm>
            <a:off x="3456432" y="164592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828800"/>
            <a:ext cx="2176272" cy="3200400"/>
          </a:xfrm>
          <a:prstGeom prst="rect">
            <a:avLst/>
          </a:prstGeom>
          <a:noFill/>
        </p:spPr>
        <p:txBody>
          <a:bodyPr wrap="square" lIns="0" tIns="0" rIns="0" bIns="0">
            <a:spAutoFit/>
          </a:bodyPr>
          <a:lstStyle/>
          <a:p>
            <a:pPr>
              <a:spcAft>
                <a:spcPts val="200"/>
              </a:spcAft>
              <a:defRPr b="1" sz="1000">
                <a:solidFill>
                  <a:srgbClr val="38BDF8"/>
                </a:solidFill>
              </a:defRPr>
            </a:pPr>
            <a:r>
              <a:t>STAGE 2</a:t>
            </a:r>
          </a:p>
          <a:p>
            <a:pPr>
              <a:spcAft>
                <a:spcPts val="1200"/>
              </a:spcAft>
              <a:defRPr b="1" sz="1300">
                <a:solidFill>
                  <a:srgbClr val="FFFFFF"/>
                </a:solidFill>
              </a:defRPr>
            </a:pPr>
            <a:r>
              <a:t>Entity Resolution</a:t>
            </a:r>
          </a:p>
          <a:p>
            <a:pPr>
              <a:defRPr sz="950">
                <a:solidFill>
                  <a:srgbClr val="E2E8F0"/>
                </a:solidFill>
              </a:defRPr>
            </a:pPr>
            <a:r>
              <a:t>• Canonical Threat Actor Resolver</a:t>
            </a:r>
            <a:br/>
            <a:r>
              <a:t>• Alias Canonicalisation Dictionary</a:t>
            </a:r>
            <a:br/>
            <a:r>
              <a:t>• Merges NOBELIUM / Cozy Bear -&gt; APT29</a:t>
            </a:r>
            <a:br/>
            <a:r>
              <a:t>• Sinkhole &amp; Public Resolver Filter</a:t>
            </a:r>
            <a:br/>
            <a:r>
              <a:t>• Provenance Citation Extraction</a:t>
            </a:r>
          </a:p>
        </p:txBody>
      </p:sp>
      <p:sp>
        <p:nvSpPr>
          <p:cNvPr id="9" name="Rounded Rectangle 8"/>
          <p:cNvSpPr/>
          <p:nvPr/>
        </p:nvSpPr>
        <p:spPr>
          <a:xfrm>
            <a:off x="6181344" y="164592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828800"/>
            <a:ext cx="2176272" cy="3200400"/>
          </a:xfrm>
          <a:prstGeom prst="rect">
            <a:avLst/>
          </a:prstGeom>
          <a:noFill/>
        </p:spPr>
        <p:txBody>
          <a:bodyPr wrap="square" lIns="0" tIns="0" rIns="0" bIns="0">
            <a:spAutoFit/>
          </a:bodyPr>
          <a:lstStyle/>
          <a:p>
            <a:pPr>
              <a:spcAft>
                <a:spcPts val="200"/>
              </a:spcAft>
              <a:defRPr b="1" sz="1000">
                <a:solidFill>
                  <a:srgbClr val="A855F7"/>
                </a:solidFill>
              </a:defRPr>
            </a:pPr>
            <a:r>
              <a:t>STAGE 3</a:t>
            </a:r>
          </a:p>
          <a:p>
            <a:pPr>
              <a:spcAft>
                <a:spcPts val="1200"/>
              </a:spcAft>
              <a:defRPr b="1" sz="1300">
                <a:solidFill>
                  <a:srgbClr val="FFFFFF"/>
                </a:solidFill>
              </a:defRPr>
            </a:pPr>
            <a:r>
              <a:t>Knowledge Graph DB</a:t>
            </a:r>
          </a:p>
          <a:p>
            <a:pPr>
              <a:defRPr sz="950">
                <a:solidFill>
                  <a:srgbClr val="E2E8F0"/>
                </a:solidFill>
              </a:defRPr>
            </a:pPr>
            <a:r>
              <a:t>• Neo4j 5.18+ Property Graph</a:t>
            </a:r>
            <a:br/>
            <a:r>
              <a:t>• NetworkX In-Memory Sub-ms Engine</a:t>
            </a:r>
            <a:br/>
            <a:r>
              <a:t>• STIX 2.1 Compliant Schema</a:t>
            </a:r>
            <a:br/>
            <a:r>
              <a:t>• 12 Node Types &amp; 10 Relationship Types</a:t>
            </a:r>
            <a:br/>
            <a:r>
              <a:t>• Immutable Edge Provenance</a:t>
            </a:r>
          </a:p>
        </p:txBody>
      </p:sp>
      <p:sp>
        <p:nvSpPr>
          <p:cNvPr id="11" name="Rounded Rectangle 10"/>
          <p:cNvSpPr/>
          <p:nvPr/>
        </p:nvSpPr>
        <p:spPr>
          <a:xfrm>
            <a:off x="8906256" y="164592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828800"/>
            <a:ext cx="2176272" cy="3200400"/>
          </a:xfrm>
          <a:prstGeom prst="rect">
            <a:avLst/>
          </a:prstGeom>
          <a:noFill/>
        </p:spPr>
        <p:txBody>
          <a:bodyPr wrap="square" lIns="0" tIns="0" rIns="0" bIns="0">
            <a:spAutoFit/>
          </a:bodyPr>
          <a:lstStyle/>
          <a:p>
            <a:pPr>
              <a:spcAft>
                <a:spcPts val="200"/>
              </a:spcAft>
              <a:defRPr b="1" sz="1000">
                <a:solidFill>
                  <a:srgbClr val="10B981"/>
                </a:solidFill>
              </a:defRPr>
            </a:pPr>
            <a:r>
              <a:t>STAGE 4</a:t>
            </a:r>
          </a:p>
          <a:p>
            <a:pPr>
              <a:spcAft>
                <a:spcPts val="1200"/>
              </a:spcAft>
              <a:defRPr b="1" sz="1300">
                <a:solidFill>
                  <a:srgbClr val="FFFFFF"/>
                </a:solidFill>
              </a:defRPr>
            </a:pPr>
            <a:r>
              <a:t>GDS &amp; ML Reasoning</a:t>
            </a:r>
          </a:p>
          <a:p>
            <a:pPr>
              <a:defRPr sz="950">
                <a:solidFill>
                  <a:srgbClr val="E2E8F0"/>
                </a:solidFill>
              </a:defRPr>
            </a:pPr>
            <a:r>
              <a:t>• PageRank Topological Influence</a:t>
            </a:r>
            <a:br/>
            <a:r>
              <a:t>• Louvain Modularity Communities</a:t>
            </a:r>
            <a:br/>
            <a:r>
              <a:t>• HDBSCAN Multi-Vector Clustering</a:t>
            </a:r>
            <a:br/>
            <a:r>
              <a:t>• Link Prediction: POTENTIALLY_RELATED_TO</a:t>
            </a:r>
            <a:br/>
            <a:r>
              <a:t>• Zero-Hallucination Explainability</a:t>
            </a:r>
          </a:p>
        </p:txBody>
      </p:sp>
      <p:sp>
        <p:nvSpPr>
          <p:cNvPr id="13" name="Rounded Rectangle 12"/>
          <p:cNvSpPr/>
          <p:nvPr/>
        </p:nvSpPr>
        <p:spPr>
          <a:xfrm>
            <a:off x="731520" y="5440680"/>
            <a:ext cx="10728655" cy="777240"/>
          </a:xfrm>
          <a:prstGeom prst="roundRect">
            <a:avLst/>
          </a:prstGeom>
          <a:solidFill>
            <a:srgbClr val="121A2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62895" cy="594360"/>
          </a:xfrm>
          <a:prstGeom prst="rect">
            <a:avLst/>
          </a:prstGeom>
          <a:noFill/>
        </p:spPr>
        <p:txBody>
          <a:bodyPr wrap="square" lIns="0" tIns="0" rIns="0" bIns="0">
            <a:spAutoFit/>
          </a:bodyPr>
          <a:lstStyle/>
          <a:p>
            <a:pPr>
              <a:defRPr b="1" sz="1100">
                <a:solidFill>
                  <a:srgbClr val="FFFFFF"/>
                </a:solidFill>
              </a:defRPr>
            </a:pPr>
            <a:r>
              <a:t>⚡ VALUE IMPACT: Triage time cut from hours of manual spreadsheet tracking to seconds of interactive graph traversal with 100% evidentiary backing.</a:t>
            </a:r>
          </a:p>
        </p:txBody>
      </p:sp>
      <p:sp>
        <p:nvSpPr>
          <p:cNvPr id="15" name="Rectangle 14"/>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3 of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SYSTEM ARCHITECTURE</a:t>
            </a:r>
          </a:p>
          <a:p>
            <a:pPr>
              <a:spcAft>
                <a:spcPts val="200"/>
              </a:spcAft>
              <a:defRPr b="1" sz="2100">
                <a:solidFill>
                  <a:srgbClr val="FFFFFF"/>
                </a:solidFill>
              </a:defRPr>
            </a:pPr>
            <a:r>
              <a:t>Multi-Tier Resilient Architecture &amp; Data Pipeline</a:t>
            </a:r>
          </a:p>
          <a:p>
            <a:pPr>
              <a:defRPr sz="1100">
                <a:solidFill>
                  <a:srgbClr val="94A3B8"/>
                </a:solidFill>
              </a:defRPr>
            </a:pPr>
            <a:r>
              <a:t>Comprehensive end-to-end data processing layers from raw inputs to analyst operational endpoints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3429000" cy="47548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3063240" cy="4480560"/>
          </a:xfrm>
          <a:prstGeom prst="rect">
            <a:avLst/>
          </a:prstGeom>
          <a:noFill/>
        </p:spPr>
        <p:txBody>
          <a:bodyPr wrap="square" lIns="0" tIns="0" rIns="0" bIns="0">
            <a:spAutoFit/>
          </a:bodyPr>
          <a:lstStyle/>
          <a:p>
            <a:pPr>
              <a:spcAft>
                <a:spcPts val="1000"/>
              </a:spcAft>
              <a:defRPr b="1" sz="1100">
                <a:solidFill>
                  <a:srgbClr val="06B6D4"/>
                </a:solidFill>
              </a:defRPr>
            </a:pPr>
            <a:r>
              <a:t>1. INGESTION &amp; NORMALIZATION</a:t>
            </a:r>
          </a:p>
          <a:p>
            <a:pPr>
              <a:defRPr b="1" sz="950">
                <a:solidFill>
                  <a:srgbClr val="FFFFFF"/>
                </a:solidFill>
              </a:defRPr>
            </a:pPr>
            <a:r>
              <a:t>▸ OSINT Report Sources</a:t>
            </a:r>
          </a:p>
          <a:p>
            <a:pPr>
              <a:spcAft>
                <a:spcPts val="400"/>
              </a:spcAft>
              <a:defRPr sz="850">
                <a:solidFill>
                  <a:srgbClr val="94A3B8"/>
                </a:solidFill>
              </a:defRPr>
            </a:pPr>
            <a:r>
              <a:t>  CISA Advisories, Mandiant M-Trends, FBI Flash, STIX JSON, Blogs</a:t>
            </a:r>
          </a:p>
          <a:p>
            <a:pPr>
              <a:defRPr b="1" sz="950">
                <a:solidFill>
                  <a:srgbClr val="FFFFFF"/>
                </a:solidFill>
              </a:defRPr>
            </a:pPr>
            <a:r>
              <a:t>▸ Deterministic Regex Engine</a:t>
            </a:r>
          </a:p>
          <a:p>
            <a:pPr>
              <a:spcAft>
                <a:spcPts val="400"/>
              </a:spcAft>
              <a:defRPr sz="850">
                <a:solidFill>
                  <a:srgbClr val="94A3B8"/>
                </a:solidFill>
              </a:defRPr>
            </a:pPr>
            <a:r>
              <a:t>  Layered IPv4/IPv6, Domain, URL, SHA256/MD5, CVE, ATT&amp;CK extraction</a:t>
            </a:r>
          </a:p>
          <a:p>
            <a:pPr>
              <a:defRPr b="1" sz="950">
                <a:solidFill>
                  <a:srgbClr val="FFFFFF"/>
                </a:solidFill>
              </a:defRPr>
            </a:pPr>
            <a:r>
              <a:t>▸ Forensic Refanging Engine</a:t>
            </a:r>
          </a:p>
          <a:p>
            <a:pPr>
              <a:spcAft>
                <a:spcPts val="400"/>
              </a:spcAft>
              <a:defRPr sz="850">
                <a:solidFill>
                  <a:srgbClr val="94A3B8"/>
                </a:solidFill>
              </a:defRPr>
            </a:pPr>
            <a:r>
              <a:t>  Normalizes hxxp://, [.], (@) while preserving raw forensic proof</a:t>
            </a:r>
          </a:p>
          <a:p>
            <a:pPr>
              <a:defRPr b="1" sz="950">
                <a:solidFill>
                  <a:srgbClr val="FFFFFF"/>
                </a:solidFill>
              </a:defRPr>
            </a:pPr>
            <a:r>
              <a:t>▸ RFC Syntax Validation</a:t>
            </a:r>
          </a:p>
          <a:p>
            <a:pPr>
              <a:spcAft>
                <a:spcPts val="400"/>
              </a:spcAft>
              <a:defRPr sz="850">
                <a:solidFill>
                  <a:srgbClr val="94A3B8"/>
                </a:solidFill>
              </a:defRPr>
            </a:pPr>
            <a:r>
              <a:t>  RFC 791 / 4291 syntax check removes version strings (e.g. 2.4.5.1)</a:t>
            </a:r>
          </a:p>
          <a:p>
            <a:pPr>
              <a:defRPr b="1" sz="950">
                <a:solidFill>
                  <a:srgbClr val="FFFFFF"/>
                </a:solidFill>
              </a:defRPr>
            </a:pPr>
            <a:r>
              <a:t>▸ Adversarial Sinkhole Filter</a:t>
            </a:r>
          </a:p>
          <a:p>
            <a:pPr>
              <a:spcAft>
                <a:spcPts val="400"/>
              </a:spcAft>
              <a:defRPr sz="850">
                <a:solidFill>
                  <a:srgbClr val="94A3B8"/>
                </a:solidFill>
              </a:defRPr>
            </a:pPr>
            <a:r>
              <a:t>  Eliminates 8.8.8.8, 1.1.1.1, and CDN IPs to block supernode pollution</a:t>
            </a:r>
          </a:p>
          <a:p>
            <a:pPr>
              <a:defRPr b="1" sz="950">
                <a:solidFill>
                  <a:srgbClr val="FFFFFF"/>
                </a:solidFill>
              </a:defRPr>
            </a:pPr>
            <a:r>
              <a:t>▸ Alias Resolution Engine</a:t>
            </a:r>
          </a:p>
          <a:p>
            <a:pPr>
              <a:spcAft>
                <a:spcPts val="400"/>
              </a:spcAft>
              <a:defRPr sz="850">
                <a:solidFill>
                  <a:srgbClr val="94A3B8"/>
                </a:solidFill>
              </a:defRPr>
            </a:pPr>
            <a:r>
              <a:t>  Maps Cozy Bear, NOBELIUM, Midnight Blizzard -&gt; Canonical APT29</a:t>
            </a:r>
          </a:p>
        </p:txBody>
      </p:sp>
      <p:sp>
        <p:nvSpPr>
          <p:cNvPr id="7" name="Rounded Rectangle 6"/>
          <p:cNvSpPr/>
          <p:nvPr/>
        </p:nvSpPr>
        <p:spPr>
          <a:xfrm>
            <a:off x="4379976" y="1600200"/>
            <a:ext cx="3429000" cy="47548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737360"/>
            <a:ext cx="3063240" cy="4480560"/>
          </a:xfrm>
          <a:prstGeom prst="rect">
            <a:avLst/>
          </a:prstGeom>
          <a:noFill/>
        </p:spPr>
        <p:txBody>
          <a:bodyPr wrap="square" lIns="0" tIns="0" rIns="0" bIns="0">
            <a:spAutoFit/>
          </a:bodyPr>
          <a:lstStyle/>
          <a:p>
            <a:pPr>
              <a:spcAft>
                <a:spcPts val="1000"/>
              </a:spcAft>
              <a:defRPr b="1" sz="1100">
                <a:solidFill>
                  <a:srgbClr val="A855F7"/>
                </a:solidFill>
              </a:defRPr>
            </a:pPr>
            <a:r>
              <a:t>2. GRAPH &amp; ANALYTICS CORE</a:t>
            </a:r>
          </a:p>
          <a:p>
            <a:pPr>
              <a:defRPr b="1" sz="950">
                <a:solidFill>
                  <a:srgbClr val="FFFFFF"/>
                </a:solidFill>
              </a:defRPr>
            </a:pPr>
            <a:r>
              <a:t>▸ ThreatGraphDB (Neo4j 5.18+)</a:t>
            </a:r>
          </a:p>
          <a:p>
            <a:pPr>
              <a:spcAft>
                <a:spcPts val="400"/>
              </a:spcAft>
              <a:defRPr sz="850">
                <a:solidFill>
                  <a:srgbClr val="94A3B8"/>
                </a:solidFill>
              </a:defRPr>
            </a:pPr>
            <a:r>
              <a:t>  NoSQL Property Graph storage with 81 nodes, 355 edges, Cypher indexes</a:t>
            </a:r>
          </a:p>
          <a:p>
            <a:pPr>
              <a:defRPr b="1" sz="950">
                <a:solidFill>
                  <a:srgbClr val="FFFFFF"/>
                </a:solidFill>
              </a:defRPr>
            </a:pPr>
            <a:r>
              <a:t>▸ NetworkX In-Memory Layer</a:t>
            </a:r>
          </a:p>
          <a:p>
            <a:pPr>
              <a:spcAft>
                <a:spcPts val="400"/>
              </a:spcAft>
              <a:defRPr sz="850">
                <a:solidFill>
                  <a:srgbClr val="94A3B8"/>
                </a:solidFill>
              </a:defRPr>
            </a:pPr>
            <a:r>
              <a:t>  In-memory synchronization layer for sub-millisecond local graph operations</a:t>
            </a:r>
          </a:p>
          <a:p>
            <a:pPr>
              <a:defRPr b="1" sz="950">
                <a:solidFill>
                  <a:srgbClr val="FFFFFF"/>
                </a:solidFill>
              </a:defRPr>
            </a:pPr>
            <a:r>
              <a:t>▸ Topological GDS Engine</a:t>
            </a:r>
          </a:p>
          <a:p>
            <a:pPr>
              <a:spcAft>
                <a:spcPts val="400"/>
              </a:spcAft>
              <a:defRPr sz="850">
                <a:solidFill>
                  <a:srgbClr val="94A3B8"/>
                </a:solidFill>
              </a:defRPr>
            </a:pPr>
            <a:r>
              <a:t>  PageRank centrality (influence nodes) + Louvain modularity clustering</a:t>
            </a:r>
          </a:p>
          <a:p>
            <a:pPr>
              <a:defRPr b="1" sz="950">
                <a:solidFill>
                  <a:srgbClr val="FFFFFF"/>
                </a:solidFill>
              </a:defRPr>
            </a:pPr>
            <a:r>
              <a:t>▸ ML Link Prediction Engine</a:t>
            </a:r>
          </a:p>
          <a:p>
            <a:pPr>
              <a:spcAft>
                <a:spcPts val="400"/>
              </a:spcAft>
              <a:defRPr sz="850">
                <a:solidFill>
                  <a:srgbClr val="94A3B8"/>
                </a:solidFill>
              </a:defRPr>
            </a:pPr>
            <a:r>
              <a:t>  HDBSCAN density clustering on 2-hop BFS multi-dimensional feature vectors</a:t>
            </a:r>
          </a:p>
          <a:p>
            <a:pPr>
              <a:defRPr b="1" sz="950">
                <a:solidFill>
                  <a:srgbClr val="FFFFFF"/>
                </a:solidFill>
              </a:defRPr>
            </a:pPr>
            <a:r>
              <a:t>▸ Provenance Tracking</a:t>
            </a:r>
          </a:p>
          <a:p>
            <a:pPr>
              <a:spcAft>
                <a:spcPts val="400"/>
              </a:spcAft>
              <a:defRPr sz="850">
                <a:solidFill>
                  <a:srgbClr val="94A3B8"/>
                </a:solidFill>
              </a:defRPr>
            </a:pPr>
            <a:r>
              <a:t>  Every relationship carries confidence, source_report_id, and context snippet</a:t>
            </a:r>
          </a:p>
          <a:p>
            <a:pPr>
              <a:defRPr b="1" sz="950">
                <a:solidFill>
                  <a:srgbClr val="FFFFFF"/>
                </a:solidFill>
              </a:defRPr>
            </a:pPr>
            <a:r>
              <a:t>▸ Explainability Engine</a:t>
            </a:r>
          </a:p>
          <a:p>
            <a:pPr>
              <a:spcAft>
                <a:spcPts val="400"/>
              </a:spcAft>
              <a:defRPr sz="850">
                <a:solidFill>
                  <a:srgbClr val="94A3B8"/>
                </a:solidFill>
              </a:defRPr>
            </a:pPr>
            <a:r>
              <a:t>  Synthesizes multi-vector evidence (shared IPs, CVEs, TTPs, report quotes)</a:t>
            </a:r>
          </a:p>
        </p:txBody>
      </p:sp>
      <p:sp>
        <p:nvSpPr>
          <p:cNvPr id="9" name="Rounded Rectangle 8"/>
          <p:cNvSpPr/>
          <p:nvPr/>
        </p:nvSpPr>
        <p:spPr>
          <a:xfrm>
            <a:off x="8028432" y="1600200"/>
            <a:ext cx="3429000" cy="47548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737360"/>
            <a:ext cx="3063240" cy="4480560"/>
          </a:xfrm>
          <a:prstGeom prst="rect">
            <a:avLst/>
          </a:prstGeom>
          <a:noFill/>
        </p:spPr>
        <p:txBody>
          <a:bodyPr wrap="square" lIns="0" tIns="0" rIns="0" bIns="0">
            <a:spAutoFit/>
          </a:bodyPr>
          <a:lstStyle/>
          <a:p>
            <a:pPr>
              <a:spcAft>
                <a:spcPts val="1000"/>
              </a:spcAft>
              <a:defRPr b="1" sz="1100">
                <a:solidFill>
                  <a:srgbClr val="10B981"/>
                </a:solidFill>
              </a:defRPr>
            </a:pPr>
            <a:r>
              <a:t>3. SOC APPLICATIONS &amp; APIS</a:t>
            </a:r>
          </a:p>
          <a:p>
            <a:pPr>
              <a:defRPr b="1" sz="950">
                <a:solidFill>
                  <a:srgbClr val="FFFFFF"/>
                </a:solidFill>
              </a:defRPr>
            </a:pPr>
            <a:r>
              <a:t>▸ FastAPI Async REST API</a:t>
            </a:r>
          </a:p>
          <a:p>
            <a:pPr>
              <a:spcAft>
                <a:spcPts val="400"/>
              </a:spcAft>
              <a:defRPr sz="850">
                <a:solidFill>
                  <a:srgbClr val="94A3B8"/>
                </a:solidFill>
              </a:defRPr>
            </a:pPr>
            <a:r>
              <a:t>  20+ endpoints with Swagger OpenAPI documentation (docs at /docs)</a:t>
            </a:r>
          </a:p>
          <a:p>
            <a:pPr>
              <a:defRPr b="1" sz="950">
                <a:solidFill>
                  <a:srgbClr val="FFFFFF"/>
                </a:solidFill>
              </a:defRPr>
            </a:pPr>
            <a:r>
              <a:t>▸ Cytoscape.js Graph Canvas</a:t>
            </a:r>
          </a:p>
          <a:p>
            <a:pPr>
              <a:spcAft>
                <a:spcPts val="400"/>
              </a:spcAft>
              <a:defRPr sz="850">
                <a:solidFill>
                  <a:srgbClr val="94A3B8"/>
                </a:solidFill>
              </a:defRPr>
            </a:pPr>
            <a:r>
              <a:t>  Interactive 2D force-directed threat explorer with dynamic node filtering</a:t>
            </a:r>
          </a:p>
          <a:p>
            <a:pPr>
              <a:defRPr b="1" sz="950">
                <a:solidFill>
                  <a:srgbClr val="FFFFFF"/>
                </a:solidFill>
              </a:defRPr>
            </a:pPr>
            <a:r>
              <a:t>▸ IoC Registry &amp; Search</a:t>
            </a:r>
          </a:p>
          <a:p>
            <a:pPr>
              <a:spcAft>
                <a:spcPts val="400"/>
              </a:spcAft>
              <a:defRPr sz="850">
                <a:solidFill>
                  <a:srgbClr val="94A3B8"/>
                </a:solidFill>
              </a:defRPr>
            </a:pPr>
            <a:r>
              <a:t>  Full-text and refanged indicator search with 1-click graph pivoting</a:t>
            </a:r>
          </a:p>
          <a:p>
            <a:pPr>
              <a:defRPr b="1" sz="950">
                <a:solidFill>
                  <a:srgbClr val="FFFFFF"/>
                </a:solidFill>
              </a:defRPr>
            </a:pPr>
            <a:r>
              <a:t>▸ Ingestion Workbench</a:t>
            </a:r>
          </a:p>
          <a:p>
            <a:pPr>
              <a:spcAft>
                <a:spcPts val="400"/>
              </a:spcAft>
              <a:defRPr sz="850">
                <a:solidFill>
                  <a:srgbClr val="94A3B8"/>
                </a:solidFill>
              </a:defRPr>
            </a:pPr>
            <a:r>
              <a:t>  Live text ingestion panel updating graph topology and provenance in real-time</a:t>
            </a:r>
          </a:p>
          <a:p>
            <a:pPr>
              <a:defRPr b="1" sz="950">
                <a:solidFill>
                  <a:srgbClr val="FFFFFF"/>
                </a:solidFill>
              </a:defRPr>
            </a:pPr>
            <a:r>
              <a:t>▸ Campaign Clusters View</a:t>
            </a:r>
          </a:p>
          <a:p>
            <a:pPr>
              <a:spcAft>
                <a:spcPts val="400"/>
              </a:spcAft>
              <a:defRPr sz="850">
                <a:solidFill>
                  <a:srgbClr val="94A3B8"/>
                </a:solidFill>
              </a:defRPr>
            </a:pPr>
            <a:r>
              <a:t>  Visual comparison of topological GDS communities and HDBSCAN clusters</a:t>
            </a:r>
          </a:p>
          <a:p>
            <a:pPr>
              <a:defRPr b="1" sz="950">
                <a:solidFill>
                  <a:srgbClr val="FFFFFF"/>
                </a:solidFill>
              </a:defRPr>
            </a:pPr>
            <a:r>
              <a:t>▸ SIEM / SOAR Webhooks</a:t>
            </a:r>
          </a:p>
          <a:p>
            <a:pPr>
              <a:spcAft>
                <a:spcPts val="400"/>
              </a:spcAft>
              <a:defRPr sz="850">
                <a:solidFill>
                  <a:srgbClr val="94A3B8"/>
                </a:solidFill>
              </a:defRPr>
            </a:pPr>
            <a:r>
              <a:t>  RESTful webhooks for automated Splunk, Microsoft Sentinel, and Cortex enrichment</a:t>
            </a:r>
          </a:p>
        </p:txBody>
      </p:sp>
      <p:sp>
        <p:nvSpPr>
          <p:cNvPr id="11" name="Rectangle 10"/>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4 of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DATABASE ARCHITECTURE</a:t>
            </a:r>
          </a:p>
          <a:p>
            <a:pPr>
              <a:spcAft>
                <a:spcPts val="200"/>
              </a:spcAft>
              <a:defRPr b="1" sz="2100">
                <a:solidFill>
                  <a:srgbClr val="FFFFFF"/>
                </a:solidFill>
              </a:defRPr>
            </a:pPr>
            <a:r>
              <a:t>ThreatGraphDB: STIX 2.1 Graph Database (Neo4j)</a:t>
            </a:r>
          </a:p>
          <a:p>
            <a:pPr>
              <a:defRPr sz="1100">
                <a:solidFill>
                  <a:srgbClr val="94A3B8"/>
                </a:solidFill>
              </a:defRPr>
            </a:pPr>
            <a:r>
              <a:t>Why a NoSQL property graph model is the optimal foundation for cyber threat intelligence</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16636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709160" cy="4343400"/>
          </a:xfrm>
          <a:prstGeom prst="rect">
            <a:avLst/>
          </a:prstGeom>
          <a:noFill/>
        </p:spPr>
        <p:txBody>
          <a:bodyPr wrap="square" lIns="0" tIns="0" rIns="0" bIns="0">
            <a:spAutoFit/>
          </a:bodyPr>
          <a:lstStyle/>
          <a:p>
            <a:pPr>
              <a:spcAft>
                <a:spcPts val="800"/>
              </a:spcAft>
              <a:defRPr b="1" sz="1200">
                <a:solidFill>
                  <a:srgbClr val="06B6D4"/>
                </a:solidFill>
              </a:defRPr>
            </a:pPr>
            <a:r>
              <a:t>DATABASE INVENTORY &amp; SCHEMA</a:t>
            </a:r>
          </a:p>
          <a:p>
            <a:pPr>
              <a:spcAft>
                <a:spcPts val="1000"/>
              </a:spcAft>
              <a:defRPr sz="950">
                <a:solidFill>
                  <a:srgbClr val="E2E8F0"/>
                </a:solidFill>
              </a:defRPr>
            </a:pPr>
            <a:r>
              <a:t>• Technology: Neo4j 5.18+ (Enterprise NoSQL Property Graph) + Bolt Driver</a:t>
            </a:r>
            <a:br/>
            <a:r>
              <a:t>• Active Inventory: 81 Verified Nodes  |  355 Directed Provenance Edges</a:t>
            </a:r>
            <a:br/>
            <a:r>
              <a:t>• Data Standard: STIX 2.1 OASIS CTI Compliant Standard</a:t>
            </a:r>
            <a:br/>
            <a:r>
              <a:t>• Query Language: Cypher with uniqueness constraints &amp; b-tree indices</a:t>
            </a:r>
          </a:p>
          <a:p>
            <a:pPr>
              <a:defRPr b="1" sz="1000">
                <a:solidFill>
                  <a:srgbClr val="38BDF8"/>
                </a:solidFill>
              </a:defRPr>
            </a:pPr>
            <a:r>
              <a:t>12 STIX 2.1 NODE CLASSES:</a:t>
            </a:r>
          </a:p>
          <a:p>
            <a:pPr>
              <a:spcAft>
                <a:spcPts val="1000"/>
              </a:spcAft>
              <a:defRPr sz="900">
                <a:solidFill>
                  <a:srgbClr val="E2E8F0"/>
                </a:solidFill>
              </a:defRPr>
            </a:pPr>
            <a:r>
              <a:t>ThreatActor (5) • Malware (4) • Campaign (1) • Tool (2) • Sector (8) • Report (6) • IP (10) • Domain (12) • URL (5) • Hash (5) • CVE (4) • AttackTechnique (10)</a:t>
            </a:r>
          </a:p>
          <a:p>
            <a:pPr>
              <a:defRPr b="1" sz="1000">
                <a:solidFill>
                  <a:srgbClr val="F59E0B"/>
                </a:solidFill>
              </a:defRPr>
            </a:pPr>
            <a:r>
              <a:t>10 DIRECTED RELATIONSHIP TYPES:</a:t>
            </a:r>
          </a:p>
          <a:p>
            <a:pPr>
              <a:spcAft>
                <a:spcPts val="1000"/>
              </a:spcAft>
              <a:defRPr sz="900">
                <a:solidFill>
                  <a:srgbClr val="E2E8F0"/>
                </a:solidFill>
              </a:defRPr>
            </a:pPr>
            <a:r>
              <a:t>USES • CONDUCTS • TARGETS • CONTACTS • EXPLOITS • USES_TECHNIQUE • MENTIONS • HAS_HASH • RESOLVES_TO • POTENTIALLY_RELATED_TO</a:t>
            </a:r>
          </a:p>
          <a:p>
            <a:pPr>
              <a:defRPr b="1" sz="1000">
                <a:solidFill>
                  <a:srgbClr val="10B981"/>
                </a:solidFill>
              </a:defRPr>
            </a:pPr>
            <a:r>
              <a:t>PROVENANCE METADATA ON EVERY EDGE:</a:t>
            </a:r>
          </a:p>
          <a:p>
            <a:pPr>
              <a:defRPr sz="900">
                <a:solidFill>
                  <a:srgbClr val="E2E8F0"/>
                </a:solidFill>
              </a:defRPr>
            </a:pPr>
            <a:r>
              <a:t>Every relationship stores: confidence (float), evidence_type (REPORTED / PREDICTED), source_report_id, source_title, source_url, and verbatim context_snippet.</a:t>
            </a:r>
          </a:p>
        </p:txBody>
      </p:sp>
      <p:sp>
        <p:nvSpPr>
          <p:cNvPr id="7" name="Rounded Rectangle 6"/>
          <p:cNvSpPr/>
          <p:nvPr/>
        </p:nvSpPr>
        <p:spPr>
          <a:xfrm>
            <a:off x="6291072" y="1600200"/>
            <a:ext cx="516636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783080"/>
            <a:ext cx="4709160" cy="4343400"/>
          </a:xfrm>
          <a:prstGeom prst="rect">
            <a:avLst/>
          </a:prstGeom>
          <a:noFill/>
        </p:spPr>
        <p:txBody>
          <a:bodyPr wrap="square" lIns="0" tIns="0" rIns="0" bIns="0">
            <a:spAutoFit/>
          </a:bodyPr>
          <a:lstStyle/>
          <a:p>
            <a:pPr>
              <a:spcAft>
                <a:spcPts val="800"/>
              </a:spcAft>
              <a:defRPr b="1" sz="1200">
                <a:solidFill>
                  <a:srgbClr val="38BDF8"/>
                </a:solidFill>
              </a:defRPr>
            </a:pPr>
            <a:r>
              <a:t>GRAPH VS RELATIONAL ARCHITECTURE</a:t>
            </a:r>
          </a:p>
          <a:p>
            <a:pPr>
              <a:defRPr b="1" sz="950">
                <a:solidFill>
                  <a:srgbClr val="FFFFFF"/>
                </a:solidFill>
              </a:defRPr>
            </a:pPr>
            <a:r>
              <a:t>▸ MULTI-HOP TRAVERSALS</a:t>
            </a:r>
          </a:p>
          <a:p>
            <a:pPr>
              <a:defRPr sz="850">
                <a:solidFill>
                  <a:srgbClr val="10B981"/>
                </a:solidFill>
              </a:defRPr>
            </a:pPr>
            <a:r>
              <a:t>  • Neo4j Graph: Index-free adjacency; constant O(1) traversal time per edge step.</a:t>
            </a:r>
          </a:p>
          <a:p>
            <a:pPr>
              <a:spcAft>
                <a:spcPts val="400"/>
              </a:spcAft>
              <a:defRPr sz="850">
                <a:solidFill>
                  <a:srgbClr val="94A3B8"/>
                </a:solidFill>
              </a:defRPr>
            </a:pPr>
            <a:r>
              <a:t>  • Relational SQL: Exponential JOIN latency; chokes on 3+ table recursive joins.</a:t>
            </a:r>
          </a:p>
          <a:p>
            <a:pPr>
              <a:defRPr b="1" sz="950">
                <a:solidFill>
                  <a:srgbClr val="FFFFFF"/>
                </a:solidFill>
              </a:defRPr>
            </a:pPr>
            <a:r>
              <a:t>▸ DYNAMIC CTI SCHEMA</a:t>
            </a:r>
          </a:p>
          <a:p>
            <a:pPr>
              <a:defRPr sz="850">
                <a:solidFill>
                  <a:srgbClr val="10B981"/>
                </a:solidFill>
              </a:defRPr>
            </a:pPr>
            <a:r>
              <a:t>  • Neo4j Graph: Effortlessly add new IoC classes (e.g. crypto wallets) without schema locks.</a:t>
            </a:r>
          </a:p>
          <a:p>
            <a:pPr>
              <a:spcAft>
                <a:spcPts val="400"/>
              </a:spcAft>
              <a:defRPr sz="850">
                <a:solidFill>
                  <a:srgbClr val="94A3B8"/>
                </a:solidFill>
              </a:defRPr>
            </a:pPr>
            <a:r>
              <a:t>  • Relational SQL: Requires rigid ALTER TABLE migrations and production schema locks.</a:t>
            </a:r>
          </a:p>
          <a:p>
            <a:pPr>
              <a:defRPr b="1" sz="950">
                <a:solidFill>
                  <a:srgbClr val="FFFFFF"/>
                </a:solidFill>
              </a:defRPr>
            </a:pPr>
            <a:r>
              <a:t>▸ INFRASTRUCTURE REUSE</a:t>
            </a:r>
          </a:p>
          <a:p>
            <a:pPr>
              <a:defRPr sz="850">
                <a:solidFill>
                  <a:srgbClr val="10B981"/>
                </a:solidFill>
              </a:defRPr>
            </a:pPr>
            <a:r>
              <a:t>  • Neo4j Graph: Shared C2 nodes naturally cluster with multi-inbound relationships.</a:t>
            </a:r>
          </a:p>
          <a:p>
            <a:pPr>
              <a:spcAft>
                <a:spcPts val="400"/>
              </a:spcAft>
              <a:defRPr sz="850">
                <a:solidFill>
                  <a:srgbClr val="94A3B8"/>
                </a:solidFill>
              </a:defRPr>
            </a:pPr>
            <a:r>
              <a:t>  • Relational SQL: Requires complex junction tables; difficult to trace multi-tenant C2.</a:t>
            </a:r>
          </a:p>
          <a:p>
            <a:pPr>
              <a:defRPr b="1" sz="950">
                <a:solidFill>
                  <a:srgbClr val="FFFFFF"/>
                </a:solidFill>
              </a:defRPr>
            </a:pPr>
            <a:r>
              <a:t>▸ GRAPH DATA SCIENCE</a:t>
            </a:r>
          </a:p>
          <a:p>
            <a:pPr>
              <a:defRPr sz="850">
                <a:solidFill>
                  <a:srgbClr val="10B981"/>
                </a:solidFill>
              </a:defRPr>
            </a:pPr>
            <a:r>
              <a:t>  • Neo4j Graph: Native PageRank, Louvain communities, and path algorithms in Cypher.</a:t>
            </a:r>
          </a:p>
          <a:p>
            <a:pPr>
              <a:spcAft>
                <a:spcPts val="400"/>
              </a:spcAft>
              <a:defRPr sz="850">
                <a:solidFill>
                  <a:srgbClr val="94A3B8"/>
                </a:solidFill>
              </a:defRPr>
            </a:pPr>
            <a:r>
              <a:t>  • Relational SQL: Requires exporting full tables to external memory tools for analysis.</a:t>
            </a:r>
          </a:p>
          <a:p>
            <a:pPr>
              <a:defRPr b="1" sz="950">
                <a:solidFill>
                  <a:srgbClr val="FFFFFF"/>
                </a:solidFill>
              </a:defRPr>
            </a:pPr>
            <a:r>
              <a:t>▸ EDGE PROVENANCE</a:t>
            </a:r>
          </a:p>
          <a:p>
            <a:pPr>
              <a:defRPr sz="850">
                <a:solidFill>
                  <a:srgbClr val="10B981"/>
                </a:solidFill>
              </a:defRPr>
            </a:pPr>
            <a:r>
              <a:t>  • Neo4j Graph: Attributes stored natively on relationship objects.</a:t>
            </a:r>
          </a:p>
          <a:p>
            <a:pPr>
              <a:spcAft>
                <a:spcPts val="400"/>
              </a:spcAft>
              <a:defRPr sz="850">
                <a:solidFill>
                  <a:srgbClr val="94A3B8"/>
                </a:solidFill>
              </a:defRPr>
            </a:pPr>
            <a:r>
              <a:t>  • Relational SQL: Requires dedicated audit tables for every join relationship.</a:t>
            </a:r>
          </a:p>
        </p:txBody>
      </p:sp>
      <p:sp>
        <p:nvSpPr>
          <p:cNvPr id="9" name="Rectangle 8"/>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5 of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EXTRACTION &amp; NORMALIZATION</a:t>
            </a:r>
          </a:p>
          <a:p>
            <a:pPr>
              <a:spcAft>
                <a:spcPts val="200"/>
              </a:spcAft>
              <a:defRPr b="1" sz="2100">
                <a:solidFill>
                  <a:srgbClr val="FFFFFF"/>
                </a:solidFill>
              </a:defRPr>
            </a:pPr>
            <a:r>
              <a:t>Deterministic IoC Extraction &amp; Refanging Engine</a:t>
            </a:r>
          </a:p>
          <a:p>
            <a:pPr>
              <a:defRPr sz="1100">
                <a:solidFill>
                  <a:srgbClr val="94A3B8"/>
                </a:solidFill>
              </a:defRPr>
            </a:pPr>
            <a:r>
              <a:t>Zero-hallucination extraction with strict RFC syntax validation and adversarial sinkhole defense</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16636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709160" cy="4343400"/>
          </a:xfrm>
          <a:prstGeom prst="rect">
            <a:avLst/>
          </a:prstGeom>
          <a:noFill/>
        </p:spPr>
        <p:txBody>
          <a:bodyPr wrap="square" lIns="0" tIns="0" rIns="0" bIns="0">
            <a:spAutoFit/>
          </a:bodyPr>
          <a:lstStyle/>
          <a:p>
            <a:pPr>
              <a:spcAft>
                <a:spcPts val="800"/>
              </a:spcAft>
              <a:defRPr b="1" sz="1200">
                <a:solidFill>
                  <a:srgbClr val="06B6D4"/>
                </a:solidFill>
              </a:defRPr>
            </a:pPr>
            <a:r>
              <a:t>CORE EXTRACTION INNOVATIONS</a:t>
            </a:r>
          </a:p>
          <a:p>
            <a:pPr>
              <a:defRPr b="1" sz="1000">
                <a:solidFill>
                  <a:srgbClr val="38BDF8"/>
                </a:solidFill>
              </a:defRPr>
            </a:pPr>
            <a:r>
              <a:t>✔ Deterministic Layered Regex</a:t>
            </a:r>
          </a:p>
          <a:p>
            <a:pPr>
              <a:spcAft>
                <a:spcPts val="600"/>
              </a:spcAft>
              <a:defRPr sz="900">
                <a:solidFill>
                  <a:srgbClr val="E2E8F0"/>
                </a:solidFill>
              </a:defRPr>
            </a:pPr>
            <a:r>
              <a:t>Pre-compiled regex patterns extract network indicators, hashes, and ATT&amp;CK IDs directly from unstructured text without LLM latency or hallucination.</a:t>
            </a:r>
          </a:p>
          <a:p>
            <a:pPr>
              <a:defRPr b="1" sz="1000">
                <a:solidFill>
                  <a:srgbClr val="38BDF8"/>
                </a:solidFill>
              </a:defRPr>
            </a:pPr>
            <a:r>
              <a:t>✔ Forensic Refanging &amp; Defanging</a:t>
            </a:r>
          </a:p>
          <a:p>
            <a:pPr>
              <a:spcAft>
                <a:spcPts val="600"/>
              </a:spcAft>
              <a:defRPr sz="900">
                <a:solidFill>
                  <a:srgbClr val="E2E8F0"/>
                </a:solidFill>
              </a:defRPr>
            </a:pPr>
            <a:r>
              <a:t>Safely unmasks obfuscated strings (e.g. hxxp:// -&gt; http://, evil[.]com -&gt; evil.com, admin[@]bank -&gt; admin@bank) while preserving the original raw forensic token.</a:t>
            </a:r>
          </a:p>
          <a:p>
            <a:pPr>
              <a:defRPr b="1" sz="1000">
                <a:solidFill>
                  <a:srgbClr val="38BDF8"/>
                </a:solidFill>
              </a:defRPr>
            </a:pPr>
            <a:r>
              <a:t>✔ RFC Syntax Validation</a:t>
            </a:r>
          </a:p>
          <a:p>
            <a:pPr>
              <a:spcAft>
                <a:spcPts val="600"/>
              </a:spcAft>
              <a:defRPr sz="900">
                <a:solidFill>
                  <a:srgbClr val="E2E8F0"/>
                </a:solidFill>
              </a:defRPr>
            </a:pPr>
            <a:r>
              <a:t>Layered RFC 791 (IPv4), RFC 4291 (IPv6), and RFC 1035 (Domain) validators eliminate false positives such as software versions (2.4.5.1) or numbering.</a:t>
            </a:r>
          </a:p>
          <a:p>
            <a:pPr>
              <a:defRPr b="1" sz="1000">
                <a:solidFill>
                  <a:srgbClr val="38BDF8"/>
                </a:solidFill>
              </a:defRPr>
            </a:pPr>
            <a:r>
              <a:t>✔ Sinkhole &amp; Public DNS Shield</a:t>
            </a:r>
          </a:p>
          <a:p>
            <a:pPr>
              <a:spcAft>
                <a:spcPts val="600"/>
              </a:spcAft>
              <a:defRPr sz="900">
                <a:solidFill>
                  <a:srgbClr val="E2E8F0"/>
                </a:solidFill>
              </a:defRPr>
            </a:pPr>
            <a:r>
              <a:t>Strips known shared infrastructure (8.8.8.8, 1.1.1.1, Cloudflare proxies) to prevent attackers from creating artificial graph supernode bridges.</a:t>
            </a:r>
          </a:p>
          <a:p>
            <a:pPr>
              <a:defRPr b="1" sz="1000">
                <a:solidFill>
                  <a:srgbClr val="38BDF8"/>
                </a:solidFill>
              </a:defRPr>
            </a:pPr>
            <a:r>
              <a:t>✔ Canonical Alias Normalization</a:t>
            </a:r>
          </a:p>
          <a:p>
            <a:pPr>
              <a:spcAft>
                <a:spcPts val="600"/>
              </a:spcAft>
              <a:defRPr sz="900">
                <a:solidFill>
                  <a:srgbClr val="E2E8F0"/>
                </a:solidFill>
              </a:defRPr>
            </a:pPr>
            <a:r>
              <a:t>Resolves vendor variations (Cozy Bear -&gt; APT29) into canonical graph identifiers with source attribution.</a:t>
            </a:r>
          </a:p>
        </p:txBody>
      </p:sp>
      <p:sp>
        <p:nvSpPr>
          <p:cNvPr id="7" name="Rounded Rectangle 6"/>
          <p:cNvSpPr/>
          <p:nvPr/>
        </p:nvSpPr>
        <p:spPr>
          <a:xfrm>
            <a:off x="6291072" y="1600200"/>
            <a:ext cx="516636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783080"/>
            <a:ext cx="4709160" cy="4343400"/>
          </a:xfrm>
          <a:prstGeom prst="rect">
            <a:avLst/>
          </a:prstGeom>
          <a:noFill/>
        </p:spPr>
        <p:txBody>
          <a:bodyPr wrap="square" lIns="0" tIns="0" rIns="0" bIns="0">
            <a:spAutoFit/>
          </a:bodyPr>
          <a:lstStyle/>
          <a:p>
            <a:pPr>
              <a:spcAft>
                <a:spcPts val="800"/>
              </a:spcAft>
              <a:defRPr b="1" sz="1200">
                <a:solidFill>
                  <a:srgbClr val="10B981"/>
                </a:solidFill>
              </a:defRPr>
            </a:pPr>
            <a:r>
              <a:t>EMPIRICAL EXTRACTION BENCHMARKS (RQ1)</a:t>
            </a:r>
          </a:p>
          <a:p>
            <a:pPr>
              <a:defRPr b="1" sz="950">
                <a:solidFill>
                  <a:srgbClr val="FFFFFF"/>
                </a:solidFill>
              </a:defRPr>
            </a:pPr>
            <a:r>
              <a:t>• Cryptographic Hashes:</a:t>
            </a:r>
          </a:p>
          <a:p>
            <a:pPr>
              <a:defRPr b="1" sz="900">
                <a:solidFill>
                  <a:srgbClr val="06B6D4"/>
                </a:solidFill>
              </a:defRPr>
            </a:pPr>
            <a:r>
              <a:t>  Recall: 100.0%   |   Precision: 100.0%</a:t>
            </a:r>
          </a:p>
          <a:p>
            <a:pPr>
              <a:spcAft>
                <a:spcPts val="300"/>
              </a:spcAft>
              <a:defRPr sz="850">
                <a:solidFill>
                  <a:srgbClr val="94A3B8"/>
                </a:solidFill>
              </a:defRPr>
            </a:pPr>
            <a:r>
              <a:t>  Validation: SHA256 (64 hex), MD5 (32 hex) regex</a:t>
            </a:r>
          </a:p>
          <a:p>
            <a:pPr>
              <a:defRPr b="1" sz="950">
                <a:solidFill>
                  <a:srgbClr val="FFFFFF"/>
                </a:solidFill>
              </a:defRPr>
            </a:pPr>
            <a:r>
              <a:t>• CVE Identifiers:</a:t>
            </a:r>
          </a:p>
          <a:p>
            <a:pPr>
              <a:defRPr b="1" sz="900">
                <a:solidFill>
                  <a:srgbClr val="06B6D4"/>
                </a:solidFill>
              </a:defRPr>
            </a:pPr>
            <a:r>
              <a:t>  Recall: 100.0%   |   Precision: 100.0%</a:t>
            </a:r>
          </a:p>
          <a:p>
            <a:pPr>
              <a:spcAft>
                <a:spcPts val="300"/>
              </a:spcAft>
              <a:defRPr sz="850">
                <a:solidFill>
                  <a:srgbClr val="94A3B8"/>
                </a:solidFill>
              </a:defRPr>
            </a:pPr>
            <a:r>
              <a:t>  Validation: Strict CVE-\d{4}-\d{4,8} schema</a:t>
            </a:r>
          </a:p>
          <a:p>
            <a:pPr>
              <a:defRPr b="1" sz="950">
                <a:solidFill>
                  <a:srgbClr val="FFFFFF"/>
                </a:solidFill>
              </a:defRPr>
            </a:pPr>
            <a:r>
              <a:t>• IPv4 / IPv6 Addresses:</a:t>
            </a:r>
          </a:p>
          <a:p>
            <a:pPr>
              <a:defRPr b="1" sz="900">
                <a:solidFill>
                  <a:srgbClr val="06B6D4"/>
                </a:solidFill>
              </a:defRPr>
            </a:pPr>
            <a:r>
              <a:t>  Recall: 98.4%   |   Precision: 99.2%</a:t>
            </a:r>
          </a:p>
          <a:p>
            <a:pPr>
              <a:spcAft>
                <a:spcPts val="300"/>
              </a:spcAft>
              <a:defRPr sz="850">
                <a:solidFill>
                  <a:srgbClr val="94A3B8"/>
                </a:solidFill>
              </a:defRPr>
            </a:pPr>
            <a:r>
              <a:t>  Validation: RFC 791/4291 check + octet bounds</a:t>
            </a:r>
          </a:p>
          <a:p>
            <a:pPr>
              <a:defRPr b="1" sz="950">
                <a:solidFill>
                  <a:srgbClr val="FFFFFF"/>
                </a:solidFill>
              </a:defRPr>
            </a:pPr>
            <a:r>
              <a:t>• MITRE ATT&amp;CK TTPs:</a:t>
            </a:r>
          </a:p>
          <a:p>
            <a:pPr>
              <a:defRPr b="1" sz="900">
                <a:solidFill>
                  <a:srgbClr val="06B6D4"/>
                </a:solidFill>
              </a:defRPr>
            </a:pPr>
            <a:r>
              <a:t>  Recall: 97.1%   |   Precision: 98.6%</a:t>
            </a:r>
          </a:p>
          <a:p>
            <a:pPr>
              <a:spcAft>
                <a:spcPts val="300"/>
              </a:spcAft>
              <a:defRPr sz="850">
                <a:solidFill>
                  <a:srgbClr val="94A3B8"/>
                </a:solidFill>
              </a:defRPr>
            </a:pPr>
            <a:r>
              <a:t>  Validation: T\d{4}(?:\.\d{3})? technique pattern</a:t>
            </a:r>
          </a:p>
          <a:p>
            <a:pPr>
              <a:defRPr b="1" sz="950">
                <a:solidFill>
                  <a:srgbClr val="FFFFFF"/>
                </a:solidFill>
              </a:defRPr>
            </a:pPr>
            <a:r>
              <a:t>• Domains &amp; Hostnames:</a:t>
            </a:r>
          </a:p>
          <a:p>
            <a:pPr>
              <a:defRPr b="1" sz="900">
                <a:solidFill>
                  <a:srgbClr val="06B6D4"/>
                </a:solidFill>
              </a:defRPr>
            </a:pPr>
            <a:r>
              <a:t>  Recall: 96.8%   |   Precision: 97.5%</a:t>
            </a:r>
          </a:p>
          <a:p>
            <a:pPr>
              <a:spcAft>
                <a:spcPts val="300"/>
              </a:spcAft>
              <a:defRPr sz="850">
                <a:solidFill>
                  <a:srgbClr val="94A3B8"/>
                </a:solidFill>
              </a:defRPr>
            </a:pPr>
            <a:r>
              <a:t>  Validation: RFC 1035 syntax + ICANN TLD filter</a:t>
            </a:r>
          </a:p>
          <a:p>
            <a:pPr>
              <a:defRPr b="1" sz="950">
                <a:solidFill>
                  <a:srgbClr val="FFFFFF"/>
                </a:solidFill>
              </a:defRPr>
            </a:pPr>
            <a:r>
              <a:t>• Named Threat Entities:</a:t>
            </a:r>
          </a:p>
          <a:p>
            <a:pPr>
              <a:defRPr b="1" sz="900">
                <a:solidFill>
                  <a:srgbClr val="06B6D4"/>
                </a:solidFill>
              </a:defRPr>
            </a:pPr>
            <a:r>
              <a:t>  Recall: 95.0%   |   Precision: 96.2%</a:t>
            </a:r>
          </a:p>
          <a:p>
            <a:pPr>
              <a:spcAft>
                <a:spcPts val="300"/>
              </a:spcAft>
              <a:defRPr sz="850">
                <a:solidFill>
                  <a:srgbClr val="94A3B8"/>
                </a:solidFill>
              </a:defRPr>
            </a:pPr>
            <a:r>
              <a:t>  Validation: Canonical Threat KB resolution map</a:t>
            </a:r>
          </a:p>
        </p:txBody>
      </p:sp>
      <p:sp>
        <p:nvSpPr>
          <p:cNvPr id="9" name="Rectangle 8"/>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6 of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ENTITY RESOLUTION</a:t>
            </a:r>
          </a:p>
          <a:p>
            <a:pPr>
              <a:spcAft>
                <a:spcPts val="200"/>
              </a:spcAft>
              <a:defRPr b="1" sz="2100">
                <a:solidFill>
                  <a:srgbClr val="FFFFFF"/>
                </a:solidFill>
              </a:defRPr>
            </a:pPr>
            <a:r>
              <a:t>Eliminating Adversary Fragmentation via Canonical Aliasing</a:t>
            </a:r>
          </a:p>
          <a:p>
            <a:pPr>
              <a:defRPr sz="1100">
                <a:solidFill>
                  <a:srgbClr val="94A3B8"/>
                </a:solidFill>
              </a:defRPr>
            </a:pPr>
            <a:r>
              <a:t>Unifying multi-vendor alias chaos into singular, cohesive STIX 2.1 ThreatActor graph entities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10728655" cy="201168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10271455" cy="1828800"/>
          </a:xfrm>
          <a:prstGeom prst="rect">
            <a:avLst/>
          </a:prstGeom>
          <a:noFill/>
        </p:spPr>
        <p:txBody>
          <a:bodyPr wrap="square" lIns="0" tIns="0" rIns="0" bIns="0">
            <a:spAutoFit/>
          </a:bodyPr>
          <a:lstStyle/>
          <a:p>
            <a:pPr>
              <a:spcAft>
                <a:spcPts val="600"/>
              </a:spcAft>
              <a:defRPr b="1" sz="1100">
                <a:solidFill>
                  <a:srgbClr val="06B6D4"/>
                </a:solidFill>
              </a:defRPr>
            </a:pPr>
            <a:r>
              <a:t>CANONICAL ADVERSARY RESOLUTION EXAMPLES</a:t>
            </a:r>
          </a:p>
          <a:p>
            <a:pPr>
              <a:defRPr b="1" sz="950">
                <a:solidFill>
                  <a:srgbClr val="F43F5E"/>
                </a:solidFill>
              </a:defRPr>
            </a:pPr>
            <a:r>
              <a:t>▸ Canonical Node: APT29 (Russian SVR)</a:t>
            </a:r>
          </a:p>
          <a:p>
            <a:pPr>
              <a:spcAft>
                <a:spcPts val="200"/>
              </a:spcAft>
              <a:defRPr sz="900">
                <a:solidFill>
                  <a:srgbClr val="E2E8F0"/>
                </a:solidFill>
              </a:defRPr>
            </a:pPr>
            <a:r>
              <a:t>  Resolved Aliases: Cozy Bear • NOBELIUM • Midnight Blizzard • UNC2452 • The Dukes • YTTRIUM</a:t>
            </a:r>
          </a:p>
          <a:p>
            <a:pPr>
              <a:defRPr b="1" sz="950">
                <a:solidFill>
                  <a:srgbClr val="F59E0B"/>
                </a:solidFill>
              </a:defRPr>
            </a:pPr>
            <a:r>
              <a:t>▸ Canonical Node: APT28 (Russian GRU)</a:t>
            </a:r>
          </a:p>
          <a:p>
            <a:pPr>
              <a:spcAft>
                <a:spcPts val="200"/>
              </a:spcAft>
              <a:defRPr sz="900">
                <a:solidFill>
                  <a:srgbClr val="E2E8F0"/>
                </a:solidFill>
              </a:defRPr>
            </a:pPr>
            <a:r>
              <a:t>  Resolved Aliases: Fancy Bear • Sofacy • STRONTIUM • Sednit • Pawn Storm</a:t>
            </a:r>
          </a:p>
          <a:p>
            <a:pPr>
              <a:defRPr b="1" sz="950">
                <a:solidFill>
                  <a:srgbClr val="A855F7"/>
                </a:solidFill>
              </a:defRPr>
            </a:pPr>
            <a:r>
              <a:t>▸ Canonical Node: Lazarus Group (North Korea RGB)</a:t>
            </a:r>
          </a:p>
          <a:p>
            <a:pPr>
              <a:spcAft>
                <a:spcPts val="200"/>
              </a:spcAft>
              <a:defRPr sz="900">
                <a:solidFill>
                  <a:srgbClr val="E2E8F0"/>
                </a:solidFill>
              </a:defRPr>
            </a:pPr>
            <a:r>
              <a:t>  Resolved Aliases: HIDDEN COBRA • Guardians of Peace • Zinc • Whois Team</a:t>
            </a:r>
          </a:p>
          <a:p>
            <a:pPr>
              <a:defRPr b="1" sz="950">
                <a:solidFill>
                  <a:srgbClr val="38BDF8"/>
                </a:solidFill>
              </a:defRPr>
            </a:pPr>
            <a:r>
              <a:t>▸ Canonical Node: Volt Typhoon (China MSS)</a:t>
            </a:r>
          </a:p>
          <a:p>
            <a:pPr>
              <a:spcAft>
                <a:spcPts val="200"/>
              </a:spcAft>
              <a:defRPr sz="900">
                <a:solidFill>
                  <a:srgbClr val="E2E8F0"/>
                </a:solidFill>
              </a:defRPr>
            </a:pPr>
            <a:r>
              <a:t>  Resolved Aliases: Vanguard Panda • BRONZE SILHOUETTE • Insidious Taurus</a:t>
            </a:r>
          </a:p>
        </p:txBody>
      </p:sp>
      <p:sp>
        <p:nvSpPr>
          <p:cNvPr id="7" name="Rounded Rectangle 6"/>
          <p:cNvSpPr/>
          <p:nvPr/>
        </p:nvSpPr>
        <p:spPr>
          <a:xfrm>
            <a:off x="731520" y="3749039"/>
            <a:ext cx="5230368" cy="256032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886200"/>
            <a:ext cx="4773168" cy="2286000"/>
          </a:xfrm>
          <a:prstGeom prst="rect">
            <a:avLst/>
          </a:prstGeom>
          <a:noFill/>
        </p:spPr>
        <p:txBody>
          <a:bodyPr wrap="square" lIns="0" tIns="0" rIns="0" bIns="0">
            <a:spAutoFit/>
          </a:bodyPr>
          <a:lstStyle/>
          <a:p>
            <a:pPr>
              <a:spcAft>
                <a:spcPts val="600"/>
              </a:spcAft>
              <a:defRPr b="1" sz="1100">
                <a:solidFill>
                  <a:srgbClr val="38BDF8"/>
                </a:solidFill>
              </a:defRPr>
            </a:pPr>
            <a:r>
              <a:t>RESOLUTION MECHANISM</a:t>
            </a:r>
          </a:p>
          <a:p>
            <a:pPr>
              <a:defRPr sz="950">
                <a:solidFill>
                  <a:srgbClr val="E2E8F0"/>
                </a:solidFill>
              </a:defRPr>
            </a:pPr>
            <a:r>
              <a:t>1. Extraction scans text against pre-indexed alias dictionaries.</a:t>
            </a:r>
            <a:br/>
            <a:r>
              <a:t>2. When 'NOBELIUM' is identified, the pipeline maps it to canonical ID 'threat-actor--APT29'.</a:t>
            </a:r>
            <a:br/>
            <a:r>
              <a:t>3. The database executes a MERGE on canonical ID, avoiding duplicate actor creation.</a:t>
            </a:r>
            <a:br/>
            <a:r>
              <a:t>4. Merged nodes accumulate observed aliases into an array attribute for reverse search.</a:t>
            </a:r>
          </a:p>
        </p:txBody>
      </p:sp>
      <p:sp>
        <p:nvSpPr>
          <p:cNvPr id="9" name="Rounded Rectangle 8"/>
          <p:cNvSpPr/>
          <p:nvPr/>
        </p:nvSpPr>
        <p:spPr>
          <a:xfrm>
            <a:off x="6227064" y="3749039"/>
            <a:ext cx="5230368" cy="256032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3886200"/>
            <a:ext cx="4773168" cy="2286000"/>
          </a:xfrm>
          <a:prstGeom prst="rect">
            <a:avLst/>
          </a:prstGeom>
          <a:noFill/>
        </p:spPr>
        <p:txBody>
          <a:bodyPr wrap="square" lIns="0" tIns="0" rIns="0" bIns="0">
            <a:spAutoFit/>
          </a:bodyPr>
          <a:lstStyle/>
          <a:p>
            <a:pPr>
              <a:spcAft>
                <a:spcPts val="600"/>
              </a:spcAft>
              <a:defRPr b="1" sz="1100">
                <a:solidFill>
                  <a:srgbClr val="10B981"/>
                </a:solidFill>
              </a:defRPr>
            </a:pPr>
            <a:r>
              <a:t>GRAPH TOPOLOGICAL IMPACT</a:t>
            </a:r>
          </a:p>
          <a:p>
            <a:pPr>
              <a:defRPr sz="950">
                <a:solidFill>
                  <a:srgbClr val="E2E8F0"/>
                </a:solidFill>
              </a:defRPr>
            </a:pPr>
            <a:r>
              <a:t>• Zero Island Fragmentation: Prevents the creation of isolated duplicate nodes representing the same actor.</a:t>
            </a:r>
            <a:br/>
            <a:r>
              <a:t>• Cumulative Edge Provenance: Relationships from disparate CISA and Mandiant advisories consolidate into a single rich node.</a:t>
            </a:r>
            <a:br/>
            <a:r>
              <a:t>• Enhanced Centrality Scoring: PageRank correctly evaluates the true influence of the unified actor rather than diluting scores.</a:t>
            </a:r>
          </a:p>
        </p:txBody>
      </p:sp>
      <p:sp>
        <p:nvSpPr>
          <p:cNvPr id="11" name="Rectangle 10"/>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7 of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PLATFORM WALKTHROUGH</a:t>
            </a:r>
          </a:p>
          <a:p>
            <a:pPr>
              <a:spcAft>
                <a:spcPts val="200"/>
              </a:spcAft>
              <a:defRPr b="1" sz="2100">
                <a:solidFill>
                  <a:srgbClr val="FFFFFF"/>
                </a:solidFill>
              </a:defRPr>
            </a:pPr>
            <a:r>
              <a:t>Live SOC Analyst Canvas: Interactive 2D Threat Graph</a:t>
            </a:r>
          </a:p>
          <a:p>
            <a:pPr>
              <a:defRPr sz="1100">
                <a:solidFill>
                  <a:srgbClr val="94A3B8"/>
                </a:solidFill>
              </a:defRPr>
            </a:pPr>
            <a:r>
              <a:t>Cytoscape.js force-directed canvas visualizing 81 threat nodes and 355 provenance-backed edges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420624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3840480" cy="4343400"/>
          </a:xfrm>
          <a:prstGeom prst="rect">
            <a:avLst/>
          </a:prstGeom>
          <a:noFill/>
        </p:spPr>
        <p:txBody>
          <a:bodyPr wrap="square" lIns="0" tIns="0" rIns="0" bIns="0">
            <a:spAutoFit/>
          </a:bodyPr>
          <a:lstStyle/>
          <a:p>
            <a:pPr>
              <a:spcAft>
                <a:spcPts val="600"/>
              </a:spcAft>
              <a:defRPr b="1" sz="1100">
                <a:solidFill>
                  <a:srgbClr val="06B6D4"/>
                </a:solidFill>
              </a:defRPr>
            </a:pPr>
            <a:r>
              <a:t>GRAPH EXPLORER CAPABILITIES</a:t>
            </a:r>
          </a:p>
          <a:p>
            <a:pPr>
              <a:defRPr b="1" sz="950">
                <a:solidFill>
                  <a:srgbClr val="38BDF8"/>
                </a:solidFill>
              </a:defRPr>
            </a:pPr>
            <a:r>
              <a:t>▸ Dynamic Force-Directed Layout</a:t>
            </a:r>
          </a:p>
          <a:p>
            <a:pPr>
              <a:spcAft>
                <a:spcPts val="400"/>
              </a:spcAft>
              <a:defRPr sz="850">
                <a:solidFill>
                  <a:srgbClr val="E2E8F0"/>
                </a:solidFill>
              </a:defRPr>
            </a:pPr>
            <a:r>
              <a:t>Cytoscape.js physics engine positions nodes by topological density, naturally clustering campaigns.</a:t>
            </a:r>
          </a:p>
          <a:p>
            <a:pPr>
              <a:defRPr b="1" sz="950">
                <a:solidFill>
                  <a:srgbClr val="38BDF8"/>
                </a:solidFill>
              </a:defRPr>
            </a:pPr>
            <a:r>
              <a:t>▸ Multi-Color Node Taxonomy</a:t>
            </a:r>
          </a:p>
          <a:p>
            <a:pPr>
              <a:spcAft>
                <a:spcPts val="400"/>
              </a:spcAft>
              <a:defRPr sz="850">
                <a:solidFill>
                  <a:srgbClr val="E2E8F0"/>
                </a:solidFill>
              </a:defRPr>
            </a:pPr>
            <a:r>
              <a:t>• Red = Threat Actor  |  Purple = Malware</a:t>
            </a:r>
            <a:br/>
            <a:r>
              <a:t>• Cyan = IP/Domain  |  Orange = CVE</a:t>
            </a:r>
            <a:br/>
            <a:r>
              <a:t>• Amber = Targeted Sector  |  Blue = Report</a:t>
            </a:r>
          </a:p>
          <a:p>
            <a:pPr>
              <a:defRPr b="1" sz="950">
                <a:solidFill>
                  <a:srgbClr val="38BDF8"/>
                </a:solidFill>
              </a:defRPr>
            </a:pPr>
            <a:r>
              <a:t>▸ Confidence Edge Filtering</a:t>
            </a:r>
          </a:p>
          <a:p>
            <a:pPr>
              <a:spcAft>
                <a:spcPts val="400"/>
              </a:spcAft>
              <a:defRPr sz="850">
                <a:solidFill>
                  <a:srgbClr val="E2E8F0"/>
                </a:solidFill>
              </a:defRPr>
            </a:pPr>
            <a:r>
              <a:t>Interactive slider dynamically filters edges by confidence score (e.g. &gt;= 0.85).</a:t>
            </a:r>
          </a:p>
          <a:p>
            <a:pPr>
              <a:defRPr b="1" sz="950">
                <a:solidFill>
                  <a:srgbClr val="38BDF8"/>
                </a:solidFill>
              </a:defRPr>
            </a:pPr>
            <a:r>
              <a:t>▸ Neighborhood Inspection Panel</a:t>
            </a:r>
          </a:p>
          <a:p>
            <a:pPr>
              <a:spcAft>
                <a:spcPts val="400"/>
              </a:spcAft>
              <a:defRPr sz="850">
                <a:solidFill>
                  <a:srgbClr val="E2E8F0"/>
                </a:solidFill>
              </a:defRPr>
            </a:pPr>
            <a:r>
              <a:t>Clicking any node or relationship displays full STIX properties, aliases, and extracted provenance snippets.</a:t>
            </a:r>
          </a:p>
          <a:p>
            <a:pPr>
              <a:defRPr b="1" sz="950">
                <a:solidFill>
                  <a:srgbClr val="38BDF8"/>
                </a:solidFill>
              </a:defRPr>
            </a:pPr>
            <a:r>
              <a:t>▸ One-Click Neighbor Expansion</a:t>
            </a:r>
          </a:p>
          <a:p>
            <a:pPr>
              <a:spcAft>
                <a:spcPts val="400"/>
              </a:spcAft>
              <a:defRPr sz="850">
                <a:solidFill>
                  <a:srgbClr val="E2E8F0"/>
                </a:solidFill>
              </a:defRPr>
            </a:pPr>
            <a:r>
              <a:t>Double-click to expand 1-hop and 2-hop neighborhoods for instant contextual triage.</a:t>
            </a:r>
          </a:p>
        </p:txBody>
      </p:sp>
      <p:sp>
        <p:nvSpPr>
          <p:cNvPr id="7" name="Rounded Rectangle 6"/>
          <p:cNvSpPr/>
          <p:nvPr/>
        </p:nvSpPr>
        <p:spPr>
          <a:xfrm>
            <a:off x="5120640" y="1600200"/>
            <a:ext cx="6339535"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0" y="1673352"/>
            <a:ext cx="5973775" cy="274320"/>
          </a:xfrm>
          <a:prstGeom prst="rect">
            <a:avLst/>
          </a:prstGeom>
          <a:noFill/>
        </p:spPr>
        <p:txBody>
          <a:bodyPr wrap="square" lIns="0" tIns="0" rIns="0" bIns="0">
            <a:spAutoFit/>
          </a:bodyPr>
          <a:lstStyle/>
          <a:p>
            <a:pPr>
              <a:defRPr b="1" sz="1000">
                <a:solidFill>
                  <a:srgbClr val="38BDF8"/>
                </a:solidFill>
              </a:defRPr>
            </a:pPr>
            <a:r>
              <a:t>CYTOSCAPE.JS THREAT GRAPH EXPLORER (81 NODES, 355 EDGES)</a:t>
            </a:r>
          </a:p>
          <a:p>
            <a:pPr>
              <a:defRPr sz="900">
                <a:solidFill>
                  <a:srgbClr val="06B6D4"/>
                </a:solidFill>
              </a:defRPr>
            </a:pPr>
            <a:r>
              <a:t> [LIVE PRODUCTION UI]</a:t>
            </a:r>
          </a:p>
        </p:txBody>
      </p:sp>
      <p:pic>
        <p:nvPicPr>
          <p:cNvPr id="9" name="Picture 8" descr="graph_explorer_view_1789920128627.png"/>
          <p:cNvPicPr>
            <a:picLocks noChangeAspect="1"/>
          </p:cNvPicPr>
          <p:nvPr/>
        </p:nvPicPr>
        <p:blipFill>
          <a:blip r:embed="rId2"/>
          <a:stretch>
            <a:fillRect/>
          </a:stretch>
        </p:blipFill>
        <p:spPr>
          <a:xfrm>
            <a:off x="5230368" y="2002536"/>
            <a:ext cx="6120079" cy="4197096"/>
          </a:xfrm>
          <a:prstGeom prst="rect">
            <a:avLst/>
          </a:prstGeom>
        </p:spPr>
      </p:pic>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8 of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PLATFORM WALKTHROUGH</a:t>
            </a:r>
          </a:p>
          <a:p>
            <a:pPr>
              <a:spcAft>
                <a:spcPts val="200"/>
              </a:spcAft>
              <a:defRPr b="1" sz="2100">
                <a:solidFill>
                  <a:srgbClr val="FFFFFF"/>
                </a:solidFill>
              </a:defRPr>
            </a:pPr>
            <a:r>
              <a:t>Operational SOC Suite: Ingestion Workbench &amp; IoC Search</a:t>
            </a:r>
          </a:p>
          <a:p>
            <a:pPr>
              <a:defRPr sz="1100">
                <a:solidFill>
                  <a:srgbClr val="94A3B8"/>
                </a:solidFill>
              </a:defRPr>
            </a:pPr>
            <a:r>
              <a:t>Automated real-time advisory ingestion paired with high-performance defanged indicator lookup</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230368" cy="329184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73352"/>
            <a:ext cx="4864608" cy="274320"/>
          </a:xfrm>
          <a:prstGeom prst="rect">
            <a:avLst/>
          </a:prstGeom>
          <a:noFill/>
        </p:spPr>
        <p:txBody>
          <a:bodyPr wrap="square" lIns="0" tIns="0" rIns="0" bIns="0">
            <a:spAutoFit/>
          </a:bodyPr>
          <a:lstStyle/>
          <a:p>
            <a:pPr>
              <a:defRPr b="1" sz="1000">
                <a:solidFill>
                  <a:srgbClr val="38BDF8"/>
                </a:solidFill>
              </a:defRPr>
            </a:pPr>
            <a:r>
              <a:t>INGESTION WORKBENCH (REAL-TIME PIPELINE)</a:t>
            </a:r>
          </a:p>
          <a:p>
            <a:pPr>
              <a:defRPr sz="900">
                <a:solidFill>
                  <a:srgbClr val="06B6D4"/>
                </a:solidFill>
              </a:defRPr>
            </a:pPr>
            <a:r>
              <a:t> [AUTOMATED INGESTION]</a:t>
            </a:r>
          </a:p>
        </p:txBody>
      </p:sp>
      <p:pic>
        <p:nvPicPr>
          <p:cNvPr id="7" name="Picture 6" descr="ingestion_workbench_view_1789920178637.png"/>
          <p:cNvPicPr>
            <a:picLocks noChangeAspect="1"/>
          </p:cNvPicPr>
          <p:nvPr/>
        </p:nvPicPr>
        <p:blipFill>
          <a:blip r:embed="rId2"/>
          <a:stretch>
            <a:fillRect/>
          </a:stretch>
        </p:blipFill>
        <p:spPr>
          <a:xfrm>
            <a:off x="841248" y="2002536"/>
            <a:ext cx="5010912" cy="2779776"/>
          </a:xfrm>
          <a:prstGeom prst="rect">
            <a:avLst/>
          </a:prstGeom>
        </p:spPr>
      </p:pic>
      <p:sp>
        <p:nvSpPr>
          <p:cNvPr id="8" name="Rounded Rectangle 7"/>
          <p:cNvSpPr/>
          <p:nvPr/>
        </p:nvSpPr>
        <p:spPr>
          <a:xfrm>
            <a:off x="731520" y="5010912"/>
            <a:ext cx="5230368" cy="1298448"/>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5074920"/>
            <a:ext cx="4956048" cy="1143000"/>
          </a:xfrm>
          <a:prstGeom prst="rect">
            <a:avLst/>
          </a:prstGeom>
          <a:noFill/>
        </p:spPr>
        <p:txBody>
          <a:bodyPr wrap="square" lIns="0" tIns="0" rIns="0" bIns="0">
            <a:spAutoFit/>
          </a:bodyPr>
          <a:lstStyle/>
          <a:p>
            <a:pPr>
              <a:defRPr b="1" sz="950">
                <a:solidFill>
                  <a:srgbClr val="06B6D4"/>
                </a:solidFill>
              </a:defRPr>
            </a:pPr>
            <a:r>
              <a:t>INGESTION WORKBENCH HIGHLIGHTS:</a:t>
            </a:r>
          </a:p>
          <a:p>
            <a:pPr>
              <a:defRPr sz="850">
                <a:solidFill>
                  <a:srgbClr val="E2E8F0"/>
                </a:solidFill>
              </a:defRPr>
            </a:pPr>
            <a:r>
              <a:t>• Paste raw text advisories or upload STIX 2.1 JSON bundles.</a:t>
            </a:r>
            <a:br/>
            <a:r>
              <a:t>• Real-time processing stream shows extraction, defanging, and canonical resolution.</a:t>
            </a:r>
            <a:br/>
            <a:r>
              <a:t>• Instant graph update without restarting services or clearing caches.</a:t>
            </a:r>
          </a:p>
        </p:txBody>
      </p:sp>
      <p:sp>
        <p:nvSpPr>
          <p:cNvPr id="10" name="Rounded Rectangle 9"/>
          <p:cNvSpPr/>
          <p:nvPr/>
        </p:nvSpPr>
        <p:spPr>
          <a:xfrm>
            <a:off x="6227064" y="1600200"/>
            <a:ext cx="5230368" cy="329184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9944" y="1673352"/>
            <a:ext cx="4864608" cy="274320"/>
          </a:xfrm>
          <a:prstGeom prst="rect">
            <a:avLst/>
          </a:prstGeom>
          <a:noFill/>
        </p:spPr>
        <p:txBody>
          <a:bodyPr wrap="square" lIns="0" tIns="0" rIns="0" bIns="0">
            <a:spAutoFit/>
          </a:bodyPr>
          <a:lstStyle/>
          <a:p>
            <a:pPr>
              <a:defRPr b="1" sz="1000">
                <a:solidFill>
                  <a:srgbClr val="38BDF8"/>
                </a:solidFill>
              </a:defRPr>
            </a:pPr>
            <a:r>
              <a:t>IOC REGISTRY &amp; DEFANGED SEARCH ENGINE</a:t>
            </a:r>
          </a:p>
          <a:p>
            <a:pPr>
              <a:defRPr sz="900">
                <a:solidFill>
                  <a:srgbClr val="06B6D4"/>
                </a:solidFill>
              </a:defRPr>
            </a:pPr>
            <a:r>
              <a:t> [INDICATOR REGISTRY]</a:t>
            </a:r>
          </a:p>
        </p:txBody>
      </p:sp>
      <p:pic>
        <p:nvPicPr>
          <p:cNvPr id="12" name="Picture 11" descr="ioc_search_view_1789920239720.png"/>
          <p:cNvPicPr>
            <a:picLocks noChangeAspect="1"/>
          </p:cNvPicPr>
          <p:nvPr/>
        </p:nvPicPr>
        <p:blipFill>
          <a:blip r:embed="rId3"/>
          <a:stretch>
            <a:fillRect/>
          </a:stretch>
        </p:blipFill>
        <p:spPr>
          <a:xfrm>
            <a:off x="6336792" y="2002536"/>
            <a:ext cx="5010912" cy="2779776"/>
          </a:xfrm>
          <a:prstGeom prst="rect">
            <a:avLst/>
          </a:prstGeom>
        </p:spPr>
      </p:pic>
      <p:sp>
        <p:nvSpPr>
          <p:cNvPr id="13" name="Rounded Rectangle 12"/>
          <p:cNvSpPr/>
          <p:nvPr/>
        </p:nvSpPr>
        <p:spPr>
          <a:xfrm>
            <a:off x="6227064" y="5010912"/>
            <a:ext cx="5230368" cy="1298448"/>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5074920"/>
            <a:ext cx="4956048" cy="1143000"/>
          </a:xfrm>
          <a:prstGeom prst="rect">
            <a:avLst/>
          </a:prstGeom>
          <a:noFill/>
        </p:spPr>
        <p:txBody>
          <a:bodyPr wrap="square" lIns="0" tIns="0" rIns="0" bIns="0">
            <a:spAutoFit/>
          </a:bodyPr>
          <a:lstStyle/>
          <a:p>
            <a:pPr>
              <a:defRPr b="1" sz="950">
                <a:solidFill>
                  <a:srgbClr val="10B981"/>
                </a:solidFill>
              </a:defRPr>
            </a:pPr>
            <a:r>
              <a:t>IOC REGISTRY HIGHLIGHTS:</a:t>
            </a:r>
          </a:p>
          <a:p>
            <a:pPr>
              <a:defRPr sz="850">
                <a:solidFill>
                  <a:srgbClr val="E2E8F0"/>
                </a:solidFill>
              </a:defRPr>
            </a:pPr>
            <a:r>
              <a:t>• Filterable database grid indexing all extracted IPv4, Domains, Hashes, and CVEs.</a:t>
            </a:r>
            <a:br/>
            <a:r>
              <a:t>• Refanged substring search (searching 'azure' matches sync-azureupdate.com).</a:t>
            </a:r>
            <a:br/>
            <a:r>
              <a:t>• 1-Click graph pivot: locates indicator and connected threat actors on canvas.</a:t>
            </a:r>
          </a:p>
        </p:txBody>
      </p:sp>
      <p:sp>
        <p:nvSpPr>
          <p:cNvPr id="15" name="Rectangle 14"/>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9 of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GRAPH DATA SCIENCE</a:t>
            </a:r>
          </a:p>
          <a:p>
            <a:pPr>
              <a:spcAft>
                <a:spcPts val="200"/>
              </a:spcAft>
              <a:defRPr b="1" sz="2100">
                <a:solidFill>
                  <a:srgbClr val="FFFFFF"/>
                </a:solidFill>
              </a:defRPr>
            </a:pPr>
            <a:r>
              <a:t>Topological Analytics: PageRank &amp; Louvain Community Detection</a:t>
            </a:r>
          </a:p>
          <a:p>
            <a:pPr>
              <a:defRPr sz="1100">
                <a:solidFill>
                  <a:srgbClr val="94A3B8"/>
                </a:solidFill>
              </a:defRPr>
            </a:pPr>
            <a:r>
              <a:t>Leveraging graph topology to identify critical threat hubs and isolate operational campaign communities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943600"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73352"/>
            <a:ext cx="5577840" cy="274320"/>
          </a:xfrm>
          <a:prstGeom prst="rect">
            <a:avLst/>
          </a:prstGeom>
          <a:noFill/>
        </p:spPr>
        <p:txBody>
          <a:bodyPr wrap="square" lIns="0" tIns="0" rIns="0" bIns="0">
            <a:spAutoFit/>
          </a:bodyPr>
          <a:lstStyle/>
          <a:p>
            <a:pPr>
              <a:defRPr b="1" sz="1000">
                <a:solidFill>
                  <a:srgbClr val="38BDF8"/>
                </a:solidFill>
              </a:defRPr>
            </a:pPr>
            <a:r>
              <a:t>GDS ANALYTICS: CENTRALITY &amp; COMMUNITY DETECTION</a:t>
            </a:r>
          </a:p>
          <a:p>
            <a:pPr>
              <a:defRPr sz="900">
                <a:solidFill>
                  <a:srgbClr val="06B6D4"/>
                </a:solidFill>
              </a:defRPr>
            </a:pPr>
            <a:r>
              <a:t> [NEO4J GDS &amp; NETWORKX]</a:t>
            </a:r>
          </a:p>
        </p:txBody>
      </p:sp>
      <p:pic>
        <p:nvPicPr>
          <p:cNvPr id="7" name="Picture 6" descr="graph_data_science_view_1789920289712.png"/>
          <p:cNvPicPr>
            <a:picLocks noChangeAspect="1"/>
          </p:cNvPicPr>
          <p:nvPr/>
        </p:nvPicPr>
        <p:blipFill>
          <a:blip r:embed="rId2"/>
          <a:stretch>
            <a:fillRect/>
          </a:stretch>
        </p:blipFill>
        <p:spPr>
          <a:xfrm>
            <a:off x="841248" y="2002536"/>
            <a:ext cx="5724144" cy="4197096"/>
          </a:xfrm>
          <a:prstGeom prst="rect">
            <a:avLst/>
          </a:prstGeom>
        </p:spPr>
      </p:pic>
      <p:sp>
        <p:nvSpPr>
          <p:cNvPr id="8" name="Rounded Rectangle 7"/>
          <p:cNvSpPr/>
          <p:nvPr/>
        </p:nvSpPr>
        <p:spPr>
          <a:xfrm>
            <a:off x="6858000" y="1600200"/>
            <a:ext cx="4602175"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783080"/>
            <a:ext cx="4144975" cy="4343400"/>
          </a:xfrm>
          <a:prstGeom prst="rect">
            <a:avLst/>
          </a:prstGeom>
          <a:noFill/>
        </p:spPr>
        <p:txBody>
          <a:bodyPr wrap="square" lIns="0" tIns="0" rIns="0" bIns="0">
            <a:spAutoFit/>
          </a:bodyPr>
          <a:lstStyle/>
          <a:p>
            <a:pPr>
              <a:spcAft>
                <a:spcPts val="600"/>
              </a:spcAft>
              <a:defRPr b="1" sz="1100">
                <a:solidFill>
                  <a:srgbClr val="06B6D4"/>
                </a:solidFill>
              </a:defRPr>
            </a:pPr>
            <a:r>
              <a:t>GRAPH TOPOLOGICAL ALGORITHMS</a:t>
            </a:r>
          </a:p>
          <a:p>
            <a:pPr>
              <a:defRPr b="1" sz="950">
                <a:solidFill>
                  <a:srgbClr val="F59E0B"/>
                </a:solidFill>
              </a:defRPr>
            </a:pPr>
            <a:r>
              <a:t>✔ PageRank Centrality (alpha=0.85)</a:t>
            </a:r>
          </a:p>
          <a:p>
            <a:pPr>
              <a:spcAft>
                <a:spcPts val="400"/>
              </a:spcAft>
              <a:defRPr sz="850">
                <a:solidFill>
                  <a:srgbClr val="E2E8F0"/>
                </a:solidFill>
              </a:defRPr>
            </a:pPr>
            <a:r>
              <a:t>Computes recursive topological influence. Discovers high-leverage pivot tools (Cobalt Strike, Mimikatz) and central C2 infrastructure connecting multiple campaigns.</a:t>
            </a:r>
          </a:p>
          <a:p>
            <a:pPr>
              <a:defRPr b="1" sz="950">
                <a:solidFill>
                  <a:srgbClr val="10B981"/>
                </a:solidFill>
              </a:defRPr>
            </a:pPr>
            <a:r>
              <a:t>✔ Louvain Modularity Detection</a:t>
            </a:r>
          </a:p>
          <a:p>
            <a:pPr>
              <a:spcAft>
                <a:spcPts val="400"/>
              </a:spcAft>
              <a:defRPr sz="850">
                <a:solidFill>
                  <a:srgbClr val="E2E8F0"/>
                </a:solidFill>
              </a:defRPr>
            </a:pPr>
            <a:r>
              <a:t>Maximizes modularity Q to cluster nodes into cohesive operational subgraphs. Successfully partitioned APT29 SolarWinds, Lazarus Crypto, and Sandworm Grid into independent communities.</a:t>
            </a:r>
          </a:p>
          <a:p>
            <a:pPr>
              <a:defRPr b="1" sz="950">
                <a:solidFill>
                  <a:srgbClr val="38BDF8"/>
                </a:solidFill>
              </a:defRPr>
            </a:pPr>
            <a:r>
              <a:t>✔ Shortest Path Traversal</a:t>
            </a:r>
          </a:p>
          <a:p>
            <a:pPr>
              <a:spcAft>
                <a:spcPts val="400"/>
              </a:spcAft>
              <a:defRPr sz="850">
                <a:solidFill>
                  <a:srgbClr val="E2E8F0"/>
                </a:solidFill>
              </a:defRPr>
            </a:pPr>
            <a:r>
              <a:t>Evaluates minimal hops between any two threat entities (e.g. APT29 -&gt; Government -&gt; Sandworm), uncovering indirect campaign relationships.</a:t>
            </a:r>
          </a:p>
          <a:p>
            <a:pPr>
              <a:defRPr b="1" sz="950">
                <a:solidFill>
                  <a:srgbClr val="F43F5E"/>
                </a:solidFill>
              </a:defRPr>
            </a:pPr>
            <a:r>
              <a:t>✔ Bridge Node &amp; Sinkhole Isolation</a:t>
            </a:r>
          </a:p>
          <a:p>
            <a:pPr>
              <a:spcAft>
                <a:spcPts val="400"/>
              </a:spcAft>
              <a:defRPr sz="850">
                <a:solidFill>
                  <a:srgbClr val="E2E8F0"/>
                </a:solidFill>
              </a:defRPr>
            </a:pPr>
            <a:r>
              <a:t>Identifies single points of failure across infrastructure while preventing public resolvers (8.8.8.8) from creating false topological bridges.</a:t>
            </a:r>
          </a:p>
        </p:txBody>
      </p:sp>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10 of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MACHINE LEARNING</a:t>
            </a:r>
          </a:p>
          <a:p>
            <a:pPr>
              <a:spcAft>
                <a:spcPts val="200"/>
              </a:spcAft>
              <a:defRPr b="1" sz="2100">
                <a:solidFill>
                  <a:srgbClr val="FFFFFF"/>
                </a:solidFill>
              </a:defRPr>
            </a:pPr>
            <a:r>
              <a:t>Predictive Analytics: Link Prediction &amp; HDBSCAN Clustering</a:t>
            </a:r>
          </a:p>
          <a:p>
            <a:pPr>
              <a:defRPr sz="1100">
                <a:solidFill>
                  <a:srgbClr val="94A3B8"/>
                </a:solidFill>
              </a:defRPr>
            </a:pPr>
            <a:r>
              <a:t>Discovering unstated adversary relationships via multi-dimensional heterogeneous feature embeddings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4602175"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236415" cy="4343400"/>
          </a:xfrm>
          <a:prstGeom prst="rect">
            <a:avLst/>
          </a:prstGeom>
          <a:noFill/>
        </p:spPr>
        <p:txBody>
          <a:bodyPr wrap="square" lIns="0" tIns="0" rIns="0" bIns="0">
            <a:spAutoFit/>
          </a:bodyPr>
          <a:lstStyle/>
          <a:p>
            <a:pPr>
              <a:spcAft>
                <a:spcPts val="600"/>
              </a:spcAft>
              <a:defRPr b="1" sz="1100">
                <a:solidFill>
                  <a:srgbClr val="06B6D4"/>
                </a:solidFill>
              </a:defRPr>
            </a:pPr>
            <a:r>
              <a:t>HYBRID ML PREDICTION ARCHITECTURE</a:t>
            </a:r>
          </a:p>
          <a:p>
            <a:pPr>
              <a:defRPr b="1" sz="950">
                <a:solidFill>
                  <a:srgbClr val="38BDF8"/>
                </a:solidFill>
              </a:defRPr>
            </a:pPr>
            <a:r>
              <a:t>▸ 2-Hop BFS Feature Vectorization</a:t>
            </a:r>
          </a:p>
          <a:p>
            <a:pPr>
              <a:spcAft>
                <a:spcPts val="400"/>
              </a:spcAft>
              <a:defRPr sz="850">
                <a:solidFill>
                  <a:srgbClr val="E2E8F0"/>
                </a:solidFill>
              </a:defRPr>
            </a:pPr>
            <a:r>
              <a:t>Constructs weighted feature vectors encoding ATT&amp;CK techniques, exploited CVEs, targeted sectors, and infrastructure classes within a 2-hop radius of each campaign.</a:t>
            </a:r>
          </a:p>
          <a:p>
            <a:pPr>
              <a:defRPr b="1" sz="950">
                <a:solidFill>
                  <a:srgbClr val="38BDF8"/>
                </a:solidFill>
              </a:defRPr>
            </a:pPr>
            <a:r>
              <a:t>▸ HDBSCAN Density Clustering</a:t>
            </a:r>
          </a:p>
          <a:p>
            <a:pPr>
              <a:spcAft>
                <a:spcPts val="400"/>
              </a:spcAft>
              <a:defRPr sz="850">
                <a:solidFill>
                  <a:srgbClr val="E2E8F0"/>
                </a:solidFill>
              </a:defRPr>
            </a:pPr>
            <a:r>
              <a:t>Executes Hierarchical Density-Based Spatial Clustering with noise tolerance; groups campaigns sharing TTP profiles without requiring direct IP overlap.</a:t>
            </a:r>
          </a:p>
          <a:p>
            <a:pPr>
              <a:defRPr b="1" sz="950">
                <a:solidFill>
                  <a:srgbClr val="38BDF8"/>
                </a:solidFill>
              </a:defRPr>
            </a:pPr>
            <a:r>
              <a:t>▸ Candidate Edge Generation</a:t>
            </a:r>
          </a:p>
          <a:p>
            <a:pPr>
              <a:spcAft>
                <a:spcPts val="400"/>
              </a:spcAft>
              <a:defRPr sz="850">
                <a:solidFill>
                  <a:srgbClr val="E2E8F0"/>
                </a:solidFill>
              </a:defRPr>
            </a:pPr>
            <a:r>
              <a:t>Predicts candidate 'POTENTIALLY_RELATED_TO' edges annotated with computed cosine and topological Jaccard similarity scores.</a:t>
            </a:r>
          </a:p>
          <a:p>
            <a:pPr>
              <a:defRPr b="1" sz="950">
                <a:solidFill>
                  <a:srgbClr val="38BDF8"/>
                </a:solidFill>
              </a:defRPr>
            </a:pPr>
            <a:r>
              <a:t>▸ Solving Graph Sparsity</a:t>
            </a:r>
          </a:p>
          <a:p>
            <a:pPr>
              <a:spcAft>
                <a:spcPts val="400"/>
              </a:spcAft>
              <a:defRPr sz="850">
                <a:solidFill>
                  <a:srgbClr val="E2E8F0"/>
                </a:solidFill>
              </a:defRPr>
            </a:pPr>
            <a:r>
              <a:t>Overcomes the cold-start and sparse-connection problem: successfully linked novel 'Operation CloudStorm' to Russian APT infrastructure.</a:t>
            </a:r>
          </a:p>
        </p:txBody>
      </p:sp>
      <p:sp>
        <p:nvSpPr>
          <p:cNvPr id="7" name="Rounded Rectangle 6"/>
          <p:cNvSpPr/>
          <p:nvPr/>
        </p:nvSpPr>
        <p:spPr>
          <a:xfrm>
            <a:off x="5516575" y="1600200"/>
            <a:ext cx="5943600"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99455" y="1673352"/>
            <a:ext cx="5577840" cy="274320"/>
          </a:xfrm>
          <a:prstGeom prst="rect">
            <a:avLst/>
          </a:prstGeom>
          <a:noFill/>
        </p:spPr>
        <p:txBody>
          <a:bodyPr wrap="square" lIns="0" tIns="0" rIns="0" bIns="0">
            <a:spAutoFit/>
          </a:bodyPr>
          <a:lstStyle/>
          <a:p>
            <a:pPr>
              <a:defRPr b="1" sz="1000">
                <a:solidFill>
                  <a:srgbClr val="38BDF8"/>
                </a:solidFill>
              </a:defRPr>
            </a:pPr>
            <a:r>
              <a:t>LINK PREDICTION &amp; CAMPAIGN CLUSTERING ENGINE</a:t>
            </a:r>
          </a:p>
          <a:p>
            <a:pPr>
              <a:defRPr sz="900">
                <a:solidFill>
                  <a:srgbClr val="06B6D4"/>
                </a:solidFill>
              </a:defRPr>
            </a:pPr>
            <a:r>
              <a:t> [HDBSCAN + JACCARD]</a:t>
            </a:r>
          </a:p>
        </p:txBody>
      </p:sp>
      <p:pic>
        <p:nvPicPr>
          <p:cNvPr id="9" name="Picture 8" descr="link_prediction_view_1789920340878.png"/>
          <p:cNvPicPr>
            <a:picLocks noChangeAspect="1"/>
          </p:cNvPicPr>
          <p:nvPr/>
        </p:nvPicPr>
        <p:blipFill>
          <a:blip r:embed="rId2"/>
          <a:stretch>
            <a:fillRect/>
          </a:stretch>
        </p:blipFill>
        <p:spPr>
          <a:xfrm>
            <a:off x="5626303" y="2002536"/>
            <a:ext cx="5724144" cy="4197096"/>
          </a:xfrm>
          <a:prstGeom prst="rect">
            <a:avLst/>
          </a:prstGeom>
        </p:spPr>
      </p:pic>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11 of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EXPLAINABILITY ENGINE</a:t>
            </a:r>
          </a:p>
          <a:p>
            <a:pPr>
              <a:spcAft>
                <a:spcPts val="200"/>
              </a:spcAft>
              <a:defRPr b="1" sz="2100">
                <a:solidFill>
                  <a:srgbClr val="FFFFFF"/>
                </a:solidFill>
              </a:defRPr>
            </a:pPr>
            <a:r>
              <a:t>Zero-Hallucination Attribution: Verifiable Multi-Vector Proof</a:t>
            </a:r>
          </a:p>
          <a:p>
            <a:pPr>
              <a:defRPr sz="1100">
                <a:solidFill>
                  <a:srgbClr val="94A3B8"/>
                </a:solidFill>
              </a:defRPr>
            </a:pPr>
            <a:r>
              <a:t>Replacing black-box ML outputs with transparent, multi-vector evidentiary trails for high-stakes SOC decisions</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10728655" cy="100584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91640"/>
            <a:ext cx="10271455" cy="822960"/>
          </a:xfrm>
          <a:prstGeom prst="rect">
            <a:avLst/>
          </a:prstGeom>
          <a:noFill/>
        </p:spPr>
        <p:txBody>
          <a:bodyPr wrap="square" lIns="0" tIns="0" rIns="0" bIns="0">
            <a:spAutoFit/>
          </a:bodyPr>
          <a:lstStyle/>
          <a:p>
            <a:pPr>
              <a:defRPr b="1" sz="1100">
                <a:solidFill>
                  <a:srgbClr val="F43F5E"/>
                </a:solidFill>
              </a:defRPr>
            </a:pPr>
            <a:r>
              <a:t>THE ZERO-HALLUCINATION POLICY FOR CYBER DEFENSE</a:t>
            </a:r>
          </a:p>
          <a:p>
            <a:pPr>
              <a:defRPr sz="950">
                <a:solidFill>
                  <a:srgbClr val="E2E8F0"/>
                </a:solidFill>
              </a:defRPr>
            </a:pPr>
            <a:r>
              <a:t>Generic generative AI models hallucinate non-existent threat correlations. In ThreatGraph AI, every predicted link is mathematically synthesized from four verifiable evidentiary dimensions rooted in the knowledge graph. If evidence does not exist in graph nodes, no link is predicted.</a:t>
            </a:r>
          </a:p>
        </p:txBody>
      </p:sp>
      <p:sp>
        <p:nvSpPr>
          <p:cNvPr id="7" name="Rounded Rectangle 6"/>
          <p:cNvSpPr/>
          <p:nvPr/>
        </p:nvSpPr>
        <p:spPr>
          <a:xfrm>
            <a:off x="731520" y="2724912"/>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907792"/>
            <a:ext cx="2176272" cy="3200400"/>
          </a:xfrm>
          <a:prstGeom prst="rect">
            <a:avLst/>
          </a:prstGeom>
          <a:noFill/>
        </p:spPr>
        <p:txBody>
          <a:bodyPr wrap="square" lIns="0" tIns="0" rIns="0" bIns="0">
            <a:spAutoFit/>
          </a:bodyPr>
          <a:lstStyle/>
          <a:p>
            <a:pPr>
              <a:spcAft>
                <a:spcPts val="200"/>
              </a:spcAft>
              <a:defRPr b="1" sz="950">
                <a:solidFill>
                  <a:srgbClr val="06B6D4"/>
                </a:solidFill>
              </a:defRPr>
            </a:pPr>
            <a:r>
              <a:t>DIMENSION 1</a:t>
            </a:r>
          </a:p>
          <a:p>
            <a:pPr>
              <a:spcAft>
                <a:spcPts val="800"/>
              </a:spcAft>
              <a:defRPr b="1" sz="1100">
                <a:solidFill>
                  <a:srgbClr val="FFFFFF"/>
                </a:solidFill>
              </a:defRPr>
            </a:pPr>
            <a:r>
              <a:t>INFRASTRUCTURE OVERLAP</a:t>
            </a:r>
          </a:p>
          <a:p>
            <a:pPr>
              <a:defRPr sz="900">
                <a:solidFill>
                  <a:srgbClr val="E2E8F0"/>
                </a:solidFill>
              </a:defRPr>
            </a:pPr>
            <a:r>
              <a:t>• Overlapping C2 domains (e.g. panprocess.com)</a:t>
            </a:r>
            <a:br/>
            <a:r>
              <a:t>• Shared hosting subnets and ASNs</a:t>
            </a:r>
            <a:br/>
            <a:r>
              <a:t>• Co-located payload staging servers</a:t>
            </a:r>
            <a:br/>
            <a:r>
              <a:t>• Concrete DNS resolution chains</a:t>
            </a:r>
          </a:p>
        </p:txBody>
      </p:sp>
      <p:sp>
        <p:nvSpPr>
          <p:cNvPr id="9" name="Rounded Rectangle 8"/>
          <p:cNvSpPr/>
          <p:nvPr/>
        </p:nvSpPr>
        <p:spPr>
          <a:xfrm>
            <a:off x="3456432" y="2724912"/>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9312" y="2907792"/>
            <a:ext cx="2176272" cy="3200400"/>
          </a:xfrm>
          <a:prstGeom prst="rect">
            <a:avLst/>
          </a:prstGeom>
          <a:noFill/>
        </p:spPr>
        <p:txBody>
          <a:bodyPr wrap="square" lIns="0" tIns="0" rIns="0" bIns="0">
            <a:spAutoFit/>
          </a:bodyPr>
          <a:lstStyle/>
          <a:p>
            <a:pPr>
              <a:spcAft>
                <a:spcPts val="200"/>
              </a:spcAft>
              <a:defRPr b="1" sz="950">
                <a:solidFill>
                  <a:srgbClr val="38BDF8"/>
                </a:solidFill>
              </a:defRPr>
            </a:pPr>
            <a:r>
              <a:t>DIMENSION 2</a:t>
            </a:r>
          </a:p>
          <a:p>
            <a:pPr>
              <a:spcAft>
                <a:spcPts val="800"/>
              </a:spcAft>
              <a:defRPr b="1" sz="1100">
                <a:solidFill>
                  <a:srgbClr val="FFFFFF"/>
                </a:solidFill>
              </a:defRPr>
            </a:pPr>
            <a:r>
              <a:t>MITRE ATT&amp;CK TECHNIQUES</a:t>
            </a:r>
          </a:p>
          <a:p>
            <a:pPr>
              <a:defRPr sz="900">
                <a:solidFill>
                  <a:srgbClr val="E2E8F0"/>
                </a:solidFill>
              </a:defRPr>
            </a:pPr>
            <a:r>
              <a:t>• Shared execution techniques (T1059)</a:t>
            </a:r>
            <a:br/>
            <a:r>
              <a:t>• Overlapping initial access (T1566 Phishing)</a:t>
            </a:r>
            <a:br/>
            <a:r>
              <a:t>• Valid account persistence (T1078)</a:t>
            </a:r>
            <a:br/>
            <a:r>
              <a:t>• Jaccard technique similarity metric</a:t>
            </a:r>
          </a:p>
        </p:txBody>
      </p:sp>
      <p:sp>
        <p:nvSpPr>
          <p:cNvPr id="11" name="Rounded Rectangle 10"/>
          <p:cNvSpPr/>
          <p:nvPr/>
        </p:nvSpPr>
        <p:spPr>
          <a:xfrm>
            <a:off x="6181344" y="2724912"/>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2907792"/>
            <a:ext cx="2176272" cy="3200400"/>
          </a:xfrm>
          <a:prstGeom prst="rect">
            <a:avLst/>
          </a:prstGeom>
          <a:noFill/>
        </p:spPr>
        <p:txBody>
          <a:bodyPr wrap="square" lIns="0" tIns="0" rIns="0" bIns="0">
            <a:spAutoFit/>
          </a:bodyPr>
          <a:lstStyle/>
          <a:p>
            <a:pPr>
              <a:spcAft>
                <a:spcPts val="200"/>
              </a:spcAft>
              <a:defRPr b="1" sz="950">
                <a:solidFill>
                  <a:srgbClr val="F59E0B"/>
                </a:solidFill>
              </a:defRPr>
            </a:pPr>
            <a:r>
              <a:t>DIMENSION 3</a:t>
            </a:r>
          </a:p>
          <a:p>
            <a:pPr>
              <a:spcAft>
                <a:spcPts val="800"/>
              </a:spcAft>
              <a:defRPr b="1" sz="1100">
                <a:solidFill>
                  <a:srgbClr val="FFFFFF"/>
                </a:solidFill>
              </a:defRPr>
            </a:pPr>
            <a:r>
              <a:t>CVE VULNERABILITY EXPLOITS</a:t>
            </a:r>
          </a:p>
          <a:p>
            <a:pPr>
              <a:defRPr sz="900">
                <a:solidFill>
                  <a:srgbClr val="E2E8F0"/>
                </a:solidFill>
              </a:defRPr>
            </a:pPr>
            <a:r>
              <a:t>• Common exploited CVE vulnerabilities</a:t>
            </a:r>
            <a:br/>
            <a:r>
              <a:t>• CVE-2020-10148 (SolarWinds Orion API)</a:t>
            </a:r>
            <a:br/>
            <a:r>
              <a:t>• CVE-2022-22954 (VMware Workspace ONE)</a:t>
            </a:r>
            <a:br/>
            <a:r>
              <a:t>• High CVSS base score alignment</a:t>
            </a:r>
          </a:p>
        </p:txBody>
      </p:sp>
      <p:sp>
        <p:nvSpPr>
          <p:cNvPr id="13" name="Rounded Rectangle 12"/>
          <p:cNvSpPr/>
          <p:nvPr/>
        </p:nvSpPr>
        <p:spPr>
          <a:xfrm>
            <a:off x="8906256" y="2724912"/>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89136" y="2907792"/>
            <a:ext cx="2176272" cy="3200400"/>
          </a:xfrm>
          <a:prstGeom prst="rect">
            <a:avLst/>
          </a:prstGeom>
          <a:noFill/>
        </p:spPr>
        <p:txBody>
          <a:bodyPr wrap="square" lIns="0" tIns="0" rIns="0" bIns="0">
            <a:spAutoFit/>
          </a:bodyPr>
          <a:lstStyle/>
          <a:p>
            <a:pPr>
              <a:spcAft>
                <a:spcPts val="200"/>
              </a:spcAft>
              <a:defRPr b="1" sz="950">
                <a:solidFill>
                  <a:srgbClr val="10B981"/>
                </a:solidFill>
              </a:defRPr>
            </a:pPr>
            <a:r>
              <a:t>DIMENSION 4</a:t>
            </a:r>
          </a:p>
          <a:p>
            <a:pPr>
              <a:spcAft>
                <a:spcPts val="800"/>
              </a:spcAft>
              <a:defRPr b="1" sz="1100">
                <a:solidFill>
                  <a:srgbClr val="FFFFFF"/>
                </a:solidFill>
              </a:defRPr>
            </a:pPr>
            <a:r>
              <a:t>GROUND-TRUTH CITATIONS</a:t>
            </a:r>
          </a:p>
          <a:p>
            <a:pPr>
              <a:defRPr sz="900">
                <a:solidFill>
                  <a:srgbClr val="E2E8F0"/>
                </a:solidFill>
              </a:defRPr>
            </a:pPr>
            <a:r>
              <a:t>• Direct source report ID attribution</a:t>
            </a:r>
            <a:br/>
            <a:r>
              <a:t>• CISA Alert AA20-352A reference</a:t>
            </a:r>
            <a:br/>
            <a:r>
              <a:t>• Mandiant M-Trends verbatim quotes</a:t>
            </a:r>
            <a:br/>
            <a:r>
              <a:t>• Exact timestamp and source tiering</a:t>
            </a:r>
          </a:p>
        </p:txBody>
      </p:sp>
      <p:sp>
        <p:nvSpPr>
          <p:cNvPr id="15" name="Rectangle 14"/>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12 of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RESEARCH BENCHMARKS</a:t>
            </a:r>
          </a:p>
          <a:p>
            <a:pPr>
              <a:spcAft>
                <a:spcPts val="200"/>
              </a:spcAft>
              <a:defRPr b="1" sz="2100">
                <a:solidFill>
                  <a:srgbClr val="FFFFFF"/>
                </a:solidFill>
              </a:defRPr>
            </a:pPr>
            <a:r>
              <a:t>Empirical Evaluation: Hybrid GDS + ML Outperforms Baselines</a:t>
            </a:r>
          </a:p>
          <a:p>
            <a:pPr>
              <a:defRPr sz="1100">
                <a:solidFill>
                  <a:srgbClr val="94A3B8"/>
                </a:solidFill>
              </a:defRPr>
            </a:pPr>
            <a:r>
              <a:t>Experimental results across 3 research questions validating the hybrid graph + machine learning approach</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3429000" cy="1280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709928"/>
            <a:ext cx="3099816" cy="1060704"/>
          </a:xfrm>
          <a:prstGeom prst="rect">
            <a:avLst/>
          </a:prstGeom>
          <a:noFill/>
        </p:spPr>
        <p:txBody>
          <a:bodyPr wrap="square" lIns="0" tIns="0" rIns="0" bIns="0">
            <a:spAutoFit/>
          </a:bodyPr>
          <a:lstStyle/>
          <a:p>
            <a:pPr>
              <a:spcAft>
                <a:spcPts val="200"/>
              </a:spcAft>
              <a:defRPr b="1" sz="2600">
                <a:solidFill>
                  <a:srgbClr val="10B981"/>
                </a:solidFill>
              </a:defRPr>
            </a:pPr>
            <a:r>
              <a:t>94.7%</a:t>
            </a:r>
          </a:p>
          <a:p>
            <a:pPr>
              <a:spcAft>
                <a:spcPts val="200"/>
              </a:spcAft>
              <a:defRPr b="1" sz="950">
                <a:solidFill>
                  <a:srgbClr val="FFFFFF"/>
                </a:solidFill>
              </a:defRPr>
            </a:pPr>
            <a:r>
              <a:t>CANDIDATE DISCOVERY RECALL</a:t>
            </a:r>
          </a:p>
          <a:p>
            <a:pPr>
              <a:defRPr sz="850">
                <a:solidFill>
                  <a:srgbClr val="94A3B8"/>
                </a:solidFill>
              </a:defRPr>
            </a:pPr>
            <a:r>
              <a:t>Hybrid model achieves highest link recall across evaluation dataset</a:t>
            </a:r>
          </a:p>
        </p:txBody>
      </p:sp>
      <p:sp>
        <p:nvSpPr>
          <p:cNvPr id="7" name="Rounded Rectangle 6"/>
          <p:cNvSpPr/>
          <p:nvPr/>
        </p:nvSpPr>
        <p:spPr>
          <a:xfrm>
            <a:off x="4379976" y="1600200"/>
            <a:ext cx="3429000" cy="1280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44568" y="1709928"/>
            <a:ext cx="3099816" cy="1060704"/>
          </a:xfrm>
          <a:prstGeom prst="rect">
            <a:avLst/>
          </a:prstGeom>
          <a:noFill/>
        </p:spPr>
        <p:txBody>
          <a:bodyPr wrap="square" lIns="0" tIns="0" rIns="0" bIns="0">
            <a:spAutoFit/>
          </a:bodyPr>
          <a:lstStyle/>
          <a:p>
            <a:pPr>
              <a:spcAft>
                <a:spcPts val="200"/>
              </a:spcAft>
              <a:defRPr b="1" sz="2600">
                <a:solidFill>
                  <a:srgbClr val="06B6D4"/>
                </a:solidFill>
              </a:defRPr>
            </a:pPr>
            <a:r>
              <a:t>3.8%</a:t>
            </a:r>
          </a:p>
          <a:p>
            <a:pPr>
              <a:spcAft>
                <a:spcPts val="200"/>
              </a:spcAft>
              <a:defRPr b="1" sz="950">
                <a:solidFill>
                  <a:srgbClr val="FFFFFF"/>
                </a:solidFill>
              </a:defRPr>
            </a:pPr>
            <a:r>
              <a:t>FALSE ATTRIBUTION RATE</a:t>
            </a:r>
          </a:p>
          <a:p>
            <a:pPr>
              <a:defRPr sz="850">
                <a:solidFill>
                  <a:srgbClr val="94A3B8"/>
                </a:solidFill>
              </a:defRPr>
            </a:pPr>
            <a:r>
              <a:t>Significantly lower error than graph-only (14.2%) and ML-only (11.5%)</a:t>
            </a:r>
          </a:p>
        </p:txBody>
      </p:sp>
      <p:sp>
        <p:nvSpPr>
          <p:cNvPr id="9" name="Rounded Rectangle 8"/>
          <p:cNvSpPr/>
          <p:nvPr/>
        </p:nvSpPr>
        <p:spPr>
          <a:xfrm>
            <a:off x="8028432" y="1600200"/>
            <a:ext cx="3429000" cy="1280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93024" y="1709928"/>
            <a:ext cx="3099816" cy="1060704"/>
          </a:xfrm>
          <a:prstGeom prst="rect">
            <a:avLst/>
          </a:prstGeom>
          <a:noFill/>
        </p:spPr>
        <p:txBody>
          <a:bodyPr wrap="square" lIns="0" tIns="0" rIns="0" bIns="0">
            <a:spAutoFit/>
          </a:bodyPr>
          <a:lstStyle/>
          <a:p>
            <a:pPr>
              <a:spcAft>
                <a:spcPts val="200"/>
              </a:spcAft>
              <a:defRPr b="1" sz="2600">
                <a:solidFill>
                  <a:srgbClr val="38BDF8"/>
                </a:solidFill>
              </a:defRPr>
            </a:pPr>
            <a:r>
              <a:t>98.4%</a:t>
            </a:r>
          </a:p>
          <a:p>
            <a:pPr>
              <a:spcAft>
                <a:spcPts val="200"/>
              </a:spcAft>
              <a:defRPr b="1" sz="950">
                <a:solidFill>
                  <a:srgbClr val="FFFFFF"/>
                </a:solidFill>
              </a:defRPr>
            </a:pPr>
            <a:r>
              <a:t>NETWORK IOC RECALL</a:t>
            </a:r>
          </a:p>
          <a:p>
            <a:pPr>
              <a:defRPr sz="850">
                <a:solidFill>
                  <a:srgbClr val="94A3B8"/>
                </a:solidFill>
              </a:defRPr>
            </a:pPr>
            <a:r>
              <a:t>Deterministic extraction recall on IPv4, domains, and cryptographic hashes</a:t>
            </a:r>
          </a:p>
        </p:txBody>
      </p:sp>
      <p:sp>
        <p:nvSpPr>
          <p:cNvPr id="11" name="Rounded Rectangle 10"/>
          <p:cNvSpPr/>
          <p:nvPr/>
        </p:nvSpPr>
        <p:spPr>
          <a:xfrm>
            <a:off x="731520" y="3063240"/>
            <a:ext cx="10728655" cy="324612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2" name="Table 11"/>
          <p:cNvGraphicFramePr>
            <a:graphicFrameLocks noGrp="1"/>
          </p:cNvGraphicFramePr>
          <p:nvPr/>
        </p:nvGraphicFramePr>
        <p:xfrm>
          <a:off x="960120" y="3246120"/>
          <a:ext cx="10271455" cy="2880360"/>
        </p:xfrm>
        <a:graphic>
          <a:graphicData uri="http://schemas.openxmlformats.org/drawingml/2006/table">
            <a:tbl>
              <a:tblPr firstRow="1" bandRow="1">
                <a:tableStyleId>{5C22544A-7EE6-4342-B048-85BDC9FD1C3A}</a:tableStyleId>
              </a:tblPr>
              <a:tblGrid>
                <a:gridCol w="2834640"/>
                <a:gridCol w="2468880"/>
                <a:gridCol w="2468880"/>
                <a:gridCol w="2499055"/>
              </a:tblGrid>
              <a:tr h="480060">
                <a:tc>
                  <a:txBody>
                    <a:bodyPr/>
                    <a:lstStyle/>
                    <a:p>
                      <a:pPr algn="l">
                        <a:defRPr b="1" sz="1000">
                          <a:solidFill>
                            <a:srgbClr val="FFFFFF"/>
                          </a:solidFill>
                        </a:defRPr>
                      </a:pPr>
                      <a:r>
                        <a:t>Evaluation Dimension</a:t>
                      </a:r>
                    </a:p>
                  </a:txBody>
                  <a:tcPr anchor="ctr">
                    <a:solidFill>
                      <a:srgbClr val="0E7490"/>
                    </a:solidFill>
                  </a:tcPr>
                </a:tc>
                <a:tc>
                  <a:txBody>
                    <a:bodyPr/>
                    <a:lstStyle/>
                    <a:p>
                      <a:pPr algn="ctr">
                        <a:defRPr b="1" sz="1000">
                          <a:solidFill>
                            <a:srgbClr val="FFFFFF"/>
                          </a:solidFill>
                        </a:defRPr>
                      </a:pPr>
                      <a:r>
                        <a:t>Graph-Only (Louvain)</a:t>
                      </a:r>
                    </a:p>
                  </a:txBody>
                  <a:tcPr anchor="ctr">
                    <a:solidFill>
                      <a:srgbClr val="0E7490"/>
                    </a:solidFill>
                  </a:tcPr>
                </a:tc>
                <a:tc>
                  <a:txBody>
                    <a:bodyPr/>
                    <a:lstStyle/>
                    <a:p>
                      <a:pPr algn="ctr">
                        <a:defRPr b="1" sz="1000">
                          <a:solidFill>
                            <a:srgbClr val="FFFFFF"/>
                          </a:solidFill>
                        </a:defRPr>
                      </a:pPr>
                      <a:r>
                        <a:t>ML-Only (HDBSCAN)</a:t>
                      </a:r>
                    </a:p>
                  </a:txBody>
                  <a:tcPr anchor="ctr">
                    <a:solidFill>
                      <a:srgbClr val="0E7490"/>
                    </a:solidFill>
                  </a:tcPr>
                </a:tc>
                <a:tc>
                  <a:txBody>
                    <a:bodyPr/>
                    <a:lstStyle/>
                    <a:p>
                      <a:pPr algn="ctr">
                        <a:defRPr b="1" sz="1000">
                          <a:solidFill>
                            <a:srgbClr val="FFFFFF"/>
                          </a:solidFill>
                        </a:defRPr>
                      </a:pPr>
                      <a:r>
                        <a:t>ThreatGraph AI (Hybrid)</a:t>
                      </a:r>
                    </a:p>
                  </a:txBody>
                  <a:tcPr anchor="ctr">
                    <a:solidFill>
                      <a:srgbClr val="0E7490"/>
                    </a:solidFill>
                  </a:tcPr>
                </a:tc>
              </a:tr>
              <a:tr h="480060">
                <a:tc>
                  <a:txBody>
                    <a:bodyPr/>
                    <a:lstStyle/>
                    <a:p>
                      <a:pPr algn="l">
                        <a:defRPr sz="950">
                          <a:solidFill>
                            <a:srgbClr val="E2E8F0"/>
                          </a:solidFill>
                        </a:defRPr>
                      </a:pPr>
                      <a:r>
                        <a:t>Candidate Discovery Recall</a:t>
                      </a:r>
                    </a:p>
                  </a:txBody>
                  <a:tcPr anchor="ctr">
                    <a:solidFill>
                      <a:srgbClr val="172135"/>
                    </a:solidFill>
                  </a:tcPr>
                </a:tc>
                <a:tc>
                  <a:txBody>
                    <a:bodyPr/>
                    <a:lstStyle/>
                    <a:p>
                      <a:pPr algn="ctr">
                        <a:defRPr sz="950">
                          <a:solidFill>
                            <a:srgbClr val="E2E8F0"/>
                          </a:solidFill>
                        </a:defRPr>
                      </a:pPr>
                      <a:r>
                        <a:t>78.5%</a:t>
                      </a:r>
                    </a:p>
                  </a:txBody>
                  <a:tcPr anchor="ctr">
                    <a:solidFill>
                      <a:srgbClr val="172135"/>
                    </a:solidFill>
                  </a:tcPr>
                </a:tc>
                <a:tc>
                  <a:txBody>
                    <a:bodyPr/>
                    <a:lstStyle/>
                    <a:p>
                      <a:pPr algn="ctr">
                        <a:defRPr sz="950">
                          <a:solidFill>
                            <a:srgbClr val="E2E8F0"/>
                          </a:solidFill>
                        </a:defRPr>
                      </a:pPr>
                      <a:r>
                        <a:t>82.1%</a:t>
                      </a:r>
                    </a:p>
                  </a:txBody>
                  <a:tcPr anchor="ctr">
                    <a:solidFill>
                      <a:srgbClr val="172135"/>
                    </a:solidFill>
                  </a:tcPr>
                </a:tc>
                <a:tc>
                  <a:txBody>
                    <a:bodyPr/>
                    <a:lstStyle/>
                    <a:p>
                      <a:pPr algn="ctr">
                        <a:defRPr sz="950" b="1">
                          <a:solidFill>
                            <a:srgbClr val="06B6D4"/>
                          </a:solidFill>
                        </a:defRPr>
                      </a:pPr>
                      <a:r>
                        <a:t>94.7%  (Best in Class)</a:t>
                      </a:r>
                    </a:p>
                  </a:txBody>
                  <a:tcPr anchor="ctr">
                    <a:solidFill>
                      <a:srgbClr val="172135"/>
                    </a:solidFill>
                  </a:tcPr>
                </a:tc>
              </a:tr>
              <a:tr h="480060">
                <a:tc>
                  <a:txBody>
                    <a:bodyPr/>
                    <a:lstStyle/>
                    <a:p>
                      <a:pPr algn="l">
                        <a:defRPr sz="950">
                          <a:solidFill>
                            <a:srgbClr val="E2E8F0"/>
                          </a:solidFill>
                        </a:defRPr>
                      </a:pPr>
                      <a:r>
                        <a:t>False Attribution Rate</a:t>
                      </a:r>
                    </a:p>
                  </a:txBody>
                  <a:tcPr anchor="ctr">
                    <a:solidFill>
                      <a:srgbClr val="0F172A"/>
                    </a:solidFill>
                  </a:tcPr>
                </a:tc>
                <a:tc>
                  <a:txBody>
                    <a:bodyPr/>
                    <a:lstStyle/>
                    <a:p>
                      <a:pPr algn="ctr">
                        <a:defRPr sz="950">
                          <a:solidFill>
                            <a:srgbClr val="E2E8F0"/>
                          </a:solidFill>
                        </a:defRPr>
                      </a:pPr>
                      <a:r>
                        <a:t>14.2%</a:t>
                      </a:r>
                    </a:p>
                  </a:txBody>
                  <a:tcPr anchor="ctr">
                    <a:solidFill>
                      <a:srgbClr val="0F172A"/>
                    </a:solidFill>
                  </a:tcPr>
                </a:tc>
                <a:tc>
                  <a:txBody>
                    <a:bodyPr/>
                    <a:lstStyle/>
                    <a:p>
                      <a:pPr algn="ctr">
                        <a:defRPr sz="950">
                          <a:solidFill>
                            <a:srgbClr val="E2E8F0"/>
                          </a:solidFill>
                        </a:defRPr>
                      </a:pPr>
                      <a:r>
                        <a:t>11.5%</a:t>
                      </a:r>
                    </a:p>
                  </a:txBody>
                  <a:tcPr anchor="ctr">
                    <a:solidFill>
                      <a:srgbClr val="0F172A"/>
                    </a:solidFill>
                  </a:tcPr>
                </a:tc>
                <a:tc>
                  <a:txBody>
                    <a:bodyPr/>
                    <a:lstStyle/>
                    <a:p>
                      <a:pPr algn="ctr">
                        <a:defRPr sz="950" b="1">
                          <a:solidFill>
                            <a:srgbClr val="06B6D4"/>
                          </a:solidFill>
                        </a:defRPr>
                      </a:pPr>
                      <a:r>
                        <a:t>3.8%  (Lowest Error)</a:t>
                      </a:r>
                    </a:p>
                  </a:txBody>
                  <a:tcPr anchor="ctr">
                    <a:solidFill>
                      <a:srgbClr val="0F172A"/>
                    </a:solidFill>
                  </a:tcPr>
                </a:tc>
              </a:tr>
              <a:tr h="480060">
                <a:tc>
                  <a:txBody>
                    <a:bodyPr/>
                    <a:lstStyle/>
                    <a:p>
                      <a:pPr algn="l">
                        <a:defRPr sz="950">
                          <a:solidFill>
                            <a:srgbClr val="E2E8F0"/>
                          </a:solidFill>
                        </a:defRPr>
                      </a:pPr>
                      <a:r>
                        <a:t>Noise &amp; Poisoning Tolerance</a:t>
                      </a:r>
                    </a:p>
                  </a:txBody>
                  <a:tcPr anchor="ctr">
                    <a:solidFill>
                      <a:srgbClr val="172135"/>
                    </a:solidFill>
                  </a:tcPr>
                </a:tc>
                <a:tc>
                  <a:txBody>
                    <a:bodyPr/>
                    <a:lstStyle/>
                    <a:p>
                      <a:pPr algn="ctr">
                        <a:defRPr sz="950">
                          <a:solidFill>
                            <a:srgbClr val="E2E8F0"/>
                          </a:solidFill>
                        </a:defRPr>
                      </a:pPr>
                      <a:r>
                        <a:t>Medium</a:t>
                      </a:r>
                    </a:p>
                  </a:txBody>
                  <a:tcPr anchor="ctr">
                    <a:solidFill>
                      <a:srgbClr val="172135"/>
                    </a:solidFill>
                  </a:tcPr>
                </a:tc>
                <a:tc>
                  <a:txBody>
                    <a:bodyPr/>
                    <a:lstStyle/>
                    <a:p>
                      <a:pPr algn="ctr">
                        <a:defRPr sz="950">
                          <a:solidFill>
                            <a:srgbClr val="E2E8F0"/>
                          </a:solidFill>
                        </a:defRPr>
                      </a:pPr>
                      <a:r>
                        <a:t>High</a:t>
                      </a:r>
                    </a:p>
                  </a:txBody>
                  <a:tcPr anchor="ctr">
                    <a:solidFill>
                      <a:srgbClr val="172135"/>
                    </a:solidFill>
                  </a:tcPr>
                </a:tc>
                <a:tc>
                  <a:txBody>
                    <a:bodyPr/>
                    <a:lstStyle/>
                    <a:p>
                      <a:pPr algn="ctr">
                        <a:defRPr sz="950" b="1">
                          <a:solidFill>
                            <a:srgbClr val="10B981"/>
                          </a:solidFill>
                        </a:defRPr>
                      </a:pPr>
                      <a:r>
                        <a:t>High  (Adversarial Defense)</a:t>
                      </a:r>
                    </a:p>
                  </a:txBody>
                  <a:tcPr anchor="ctr">
                    <a:solidFill>
                      <a:srgbClr val="172135"/>
                    </a:solidFill>
                  </a:tcPr>
                </a:tc>
              </a:tr>
              <a:tr h="480060">
                <a:tc>
                  <a:txBody>
                    <a:bodyPr/>
                    <a:lstStyle/>
                    <a:p>
                      <a:pPr algn="l">
                        <a:defRPr sz="950">
                          <a:solidFill>
                            <a:srgbClr val="E2E8F0"/>
                          </a:solidFill>
                        </a:defRPr>
                      </a:pPr>
                      <a:r>
                        <a:t>Explainability &amp; Proof</a:t>
                      </a:r>
                    </a:p>
                  </a:txBody>
                  <a:tcPr anchor="ctr">
                    <a:solidFill>
                      <a:srgbClr val="0F172A"/>
                    </a:solidFill>
                  </a:tcPr>
                </a:tc>
                <a:tc>
                  <a:txBody>
                    <a:bodyPr/>
                    <a:lstStyle/>
                    <a:p>
                      <a:pPr algn="ctr">
                        <a:defRPr sz="950">
                          <a:solidFill>
                            <a:srgbClr val="E2E8F0"/>
                          </a:solidFill>
                        </a:defRPr>
                      </a:pPr>
                      <a:r>
                        <a:t>High (Path Traversal Only)</a:t>
                      </a:r>
                    </a:p>
                  </a:txBody>
                  <a:tcPr anchor="ctr">
                    <a:solidFill>
                      <a:srgbClr val="0F172A"/>
                    </a:solidFill>
                  </a:tcPr>
                </a:tc>
                <a:tc>
                  <a:txBody>
                    <a:bodyPr/>
                    <a:lstStyle/>
                    <a:p>
                      <a:pPr algn="ctr">
                        <a:defRPr sz="950">
                          <a:solidFill>
                            <a:srgbClr val="E2E8F0"/>
                          </a:solidFill>
                        </a:defRPr>
                      </a:pPr>
                      <a:r>
                        <a:t>Low (Opaque Vector Dist)</a:t>
                      </a:r>
                    </a:p>
                  </a:txBody>
                  <a:tcPr anchor="ctr">
                    <a:solidFill>
                      <a:srgbClr val="0F172A"/>
                    </a:solidFill>
                  </a:tcPr>
                </a:tc>
                <a:tc>
                  <a:txBody>
                    <a:bodyPr/>
                    <a:lstStyle/>
                    <a:p>
                      <a:pPr algn="ctr">
                        <a:defRPr sz="950" b="1">
                          <a:solidFill>
                            <a:srgbClr val="06B6D4"/>
                          </a:solidFill>
                        </a:defRPr>
                      </a:pPr>
                      <a:r>
                        <a:t>Maximum (Multi-Vector Cited)</a:t>
                      </a:r>
                    </a:p>
                  </a:txBody>
                  <a:tcPr anchor="ctr">
                    <a:solidFill>
                      <a:srgbClr val="0F172A"/>
                    </a:solidFill>
                  </a:tcPr>
                </a:tc>
              </a:tr>
              <a:tr h="480060">
                <a:tc>
                  <a:txBody>
                    <a:bodyPr/>
                    <a:lstStyle/>
                    <a:p>
                      <a:pPr algn="l">
                        <a:defRPr sz="950">
                          <a:solidFill>
                            <a:srgbClr val="E2E8F0"/>
                          </a:solidFill>
                        </a:defRPr>
                      </a:pPr>
                      <a:r>
                        <a:t>Unlinked Entity Discovery</a:t>
                      </a:r>
                    </a:p>
                  </a:txBody>
                  <a:tcPr anchor="ctr">
                    <a:solidFill>
                      <a:srgbClr val="172135"/>
                    </a:solidFill>
                  </a:tcPr>
                </a:tc>
                <a:tc>
                  <a:txBody>
                    <a:bodyPr/>
                    <a:lstStyle/>
                    <a:p>
                      <a:pPr algn="ctr">
                        <a:defRPr sz="950">
                          <a:solidFill>
                            <a:srgbClr val="E2E8F0"/>
                          </a:solidFill>
                        </a:defRPr>
                      </a:pPr>
                      <a:r>
                        <a:t>Poor (Requires direct hops)</a:t>
                      </a:r>
                    </a:p>
                  </a:txBody>
                  <a:tcPr anchor="ctr">
                    <a:solidFill>
                      <a:srgbClr val="172135"/>
                    </a:solidFill>
                  </a:tcPr>
                </a:tc>
                <a:tc>
                  <a:txBody>
                    <a:bodyPr/>
                    <a:lstStyle/>
                    <a:p>
                      <a:pPr algn="ctr">
                        <a:defRPr sz="950">
                          <a:solidFill>
                            <a:srgbClr val="E2E8F0"/>
                          </a:solidFill>
                        </a:defRPr>
                      </a:pPr>
                      <a:r>
                        <a:t>Good (Clustering vectors)</a:t>
                      </a:r>
                    </a:p>
                  </a:txBody>
                  <a:tcPr anchor="ctr">
                    <a:solidFill>
                      <a:srgbClr val="172135"/>
                    </a:solidFill>
                  </a:tcPr>
                </a:tc>
                <a:tc>
                  <a:txBody>
                    <a:bodyPr/>
                    <a:lstStyle/>
                    <a:p>
                      <a:pPr algn="ctr">
                        <a:defRPr sz="950" b="1">
                          <a:solidFill>
                            <a:srgbClr val="10B981"/>
                          </a:solidFill>
                        </a:defRPr>
                      </a:pPr>
                      <a:r>
                        <a:t>Superior (Graph + Vectors)</a:t>
                      </a:r>
                    </a:p>
                  </a:txBody>
                  <a:tcPr anchor="ctr">
                    <a:solidFill>
                      <a:srgbClr val="172135"/>
                    </a:solidFill>
                  </a:tcPr>
                </a:tc>
              </a:tr>
            </a:tbl>
          </a:graphicData>
        </a:graphic>
      </p:graphicFrame>
      <p:sp>
        <p:nvSpPr>
          <p:cNvPr id="13" name="Rectangle 12"/>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13 of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CASE STUDIES</a:t>
            </a:r>
          </a:p>
          <a:p>
            <a:pPr>
              <a:spcAft>
                <a:spcPts val="200"/>
              </a:spcAft>
              <a:defRPr b="1" sz="2100">
                <a:solidFill>
                  <a:srgbClr val="FFFFFF"/>
                </a:solidFill>
              </a:defRPr>
            </a:pPr>
            <a:r>
              <a:t>Battle-Tested on Major Real-World Threat Adversaries</a:t>
            </a:r>
          </a:p>
          <a:p>
            <a:pPr>
              <a:defRPr sz="1100">
                <a:solidFill>
                  <a:srgbClr val="94A3B8"/>
                </a:solidFill>
              </a:defRPr>
            </a:pPr>
            <a:r>
              <a:t>Ground-truth CISA &amp; Mandiant campaign benchmarks operationalized within the knowledge graph</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176272" cy="3200400"/>
          </a:xfrm>
          <a:prstGeom prst="rect">
            <a:avLst/>
          </a:prstGeom>
          <a:noFill/>
        </p:spPr>
        <p:txBody>
          <a:bodyPr wrap="square" lIns="0" tIns="0" rIns="0" bIns="0">
            <a:spAutoFit/>
          </a:bodyPr>
          <a:lstStyle/>
          <a:p>
            <a:pPr>
              <a:spcAft>
                <a:spcPts val="200"/>
              </a:spcAft>
              <a:defRPr b="1" sz="1100">
                <a:solidFill>
                  <a:srgbClr val="F43F5E"/>
                </a:solidFill>
              </a:defRPr>
            </a:pPr>
            <a:r>
              <a:t>APT29 / COZY BEAR</a:t>
            </a:r>
          </a:p>
          <a:p>
            <a:pPr>
              <a:spcAft>
                <a:spcPts val="1000"/>
              </a:spcAft>
              <a:defRPr b="1" sz="1000">
                <a:solidFill>
                  <a:srgbClr val="FFFFFF"/>
                </a:solidFill>
              </a:defRPr>
            </a:pPr>
            <a:r>
              <a:t>SolarWinds Supply Chain</a:t>
            </a:r>
          </a:p>
          <a:p>
            <a:pPr>
              <a:defRPr sz="900">
                <a:solidFill>
                  <a:srgbClr val="E2E8F0"/>
                </a:solidFill>
              </a:defRPr>
            </a:pPr>
            <a:r>
              <a:t>• Country: Russia (SVR)</a:t>
            </a:r>
            <a:br/>
            <a:r>
              <a:t>• Malware: SUNBURST, Cobalt Strike</a:t>
            </a:r>
            <a:br/>
            <a:r>
              <a:t>• CVE: CVE-2020-10148 (SolarWinds API)</a:t>
            </a:r>
            <a:br/>
            <a:r>
              <a:t>• Target Sectors: Government, Defense, IT</a:t>
            </a:r>
            <a:br/>
            <a:r>
              <a:t>• C2 Domains: avsvmcloud.com, panprocess.com</a:t>
            </a:r>
          </a:p>
        </p:txBody>
      </p:sp>
      <p:sp>
        <p:nvSpPr>
          <p:cNvPr id="7" name="Rounded Rectangle 6"/>
          <p:cNvSpPr/>
          <p:nvPr/>
        </p:nvSpPr>
        <p:spPr>
          <a:xfrm>
            <a:off x="3456432" y="160020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783080"/>
            <a:ext cx="2176272" cy="3200400"/>
          </a:xfrm>
          <a:prstGeom prst="rect">
            <a:avLst/>
          </a:prstGeom>
          <a:noFill/>
        </p:spPr>
        <p:txBody>
          <a:bodyPr wrap="square" lIns="0" tIns="0" rIns="0" bIns="0">
            <a:spAutoFit/>
          </a:bodyPr>
          <a:lstStyle/>
          <a:p>
            <a:pPr>
              <a:spcAft>
                <a:spcPts val="200"/>
              </a:spcAft>
              <a:defRPr b="1" sz="1100">
                <a:solidFill>
                  <a:srgbClr val="F59E0B"/>
                </a:solidFill>
              </a:defRPr>
            </a:pPr>
            <a:r>
              <a:t>SANDWORM TEAM</a:t>
            </a:r>
          </a:p>
          <a:p>
            <a:pPr>
              <a:spcAft>
                <a:spcPts val="1000"/>
              </a:spcAft>
              <a:defRPr b="1" sz="1000">
                <a:solidFill>
                  <a:srgbClr val="FFFFFF"/>
                </a:solidFill>
              </a:defRPr>
            </a:pPr>
            <a:r>
              <a:t>Ukraine Power Grid Blackouts</a:t>
            </a:r>
          </a:p>
          <a:p>
            <a:pPr>
              <a:defRPr sz="900">
                <a:solidFill>
                  <a:srgbClr val="E2E8F0"/>
                </a:solidFill>
              </a:defRPr>
            </a:pPr>
            <a:r>
              <a:t>• Country: Russia (GRU)</a:t>
            </a:r>
            <a:br/>
            <a:r>
              <a:t>• Malware: Industroyer, BlackEnergy</a:t>
            </a:r>
            <a:br/>
            <a:r>
              <a:t>• CVE: CVE-2022-22954 (VMware)</a:t>
            </a:r>
            <a:br/>
            <a:r>
              <a:t>• Target Sectors: Energy, Utilities</a:t>
            </a:r>
            <a:br/>
            <a:r>
              <a:t>• C2 Domains: energy-grid-telemetry.net</a:t>
            </a:r>
          </a:p>
        </p:txBody>
      </p:sp>
      <p:sp>
        <p:nvSpPr>
          <p:cNvPr id="9" name="Rounded Rectangle 8"/>
          <p:cNvSpPr/>
          <p:nvPr/>
        </p:nvSpPr>
        <p:spPr>
          <a:xfrm>
            <a:off x="6181344" y="160020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783080"/>
            <a:ext cx="2176272" cy="3200400"/>
          </a:xfrm>
          <a:prstGeom prst="rect">
            <a:avLst/>
          </a:prstGeom>
          <a:noFill/>
        </p:spPr>
        <p:txBody>
          <a:bodyPr wrap="square" lIns="0" tIns="0" rIns="0" bIns="0">
            <a:spAutoFit/>
          </a:bodyPr>
          <a:lstStyle/>
          <a:p>
            <a:pPr>
              <a:spcAft>
                <a:spcPts val="200"/>
              </a:spcAft>
              <a:defRPr b="1" sz="1100">
                <a:solidFill>
                  <a:srgbClr val="A855F7"/>
                </a:solidFill>
              </a:defRPr>
            </a:pPr>
            <a:r>
              <a:t>LAZARUS GROUP</a:t>
            </a:r>
          </a:p>
          <a:p>
            <a:pPr>
              <a:spcAft>
                <a:spcPts val="1000"/>
              </a:spcAft>
              <a:defRPr b="1" sz="1000">
                <a:solidFill>
                  <a:srgbClr val="FFFFFF"/>
                </a:solidFill>
              </a:defRPr>
            </a:pPr>
            <a:r>
              <a:t>Global Crypto &amp; Banking Heists</a:t>
            </a:r>
          </a:p>
          <a:p>
            <a:pPr>
              <a:defRPr sz="900">
                <a:solidFill>
                  <a:srgbClr val="E2E8F0"/>
                </a:solidFill>
              </a:defRPr>
            </a:pPr>
            <a:r>
              <a:t>• Country: North Korea (RGB)</a:t>
            </a:r>
            <a:br/>
            <a:r>
              <a:t>• Malware: AppleJeus Trojan Suite</a:t>
            </a:r>
            <a:br/>
            <a:r>
              <a:t>• TTPs: Spearphishing (T1566), Scripting</a:t>
            </a:r>
            <a:br/>
            <a:r>
              <a:t>• Target Sectors: Financial Services, Crypto</a:t>
            </a:r>
            <a:br/>
            <a:r>
              <a:t>• C2 Domains: crypto-trade-live.com</a:t>
            </a:r>
          </a:p>
        </p:txBody>
      </p:sp>
      <p:sp>
        <p:nvSpPr>
          <p:cNvPr id="11" name="Rounded Rectangle 10"/>
          <p:cNvSpPr/>
          <p:nvPr/>
        </p:nvSpPr>
        <p:spPr>
          <a:xfrm>
            <a:off x="8906256" y="1600200"/>
            <a:ext cx="2542032" cy="3566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783080"/>
            <a:ext cx="2176272" cy="3200400"/>
          </a:xfrm>
          <a:prstGeom prst="rect">
            <a:avLst/>
          </a:prstGeom>
          <a:noFill/>
        </p:spPr>
        <p:txBody>
          <a:bodyPr wrap="square" lIns="0" tIns="0" rIns="0" bIns="0">
            <a:spAutoFit/>
          </a:bodyPr>
          <a:lstStyle/>
          <a:p>
            <a:pPr>
              <a:spcAft>
                <a:spcPts val="200"/>
              </a:spcAft>
              <a:defRPr b="1" sz="1100">
                <a:solidFill>
                  <a:srgbClr val="38BDF8"/>
                </a:solidFill>
              </a:defRPr>
            </a:pPr>
            <a:r>
              <a:t>VOLT TYPHOON</a:t>
            </a:r>
          </a:p>
          <a:p>
            <a:pPr>
              <a:spcAft>
                <a:spcPts val="1000"/>
              </a:spcAft>
              <a:defRPr b="1" sz="1000">
                <a:solidFill>
                  <a:srgbClr val="FFFFFF"/>
                </a:solidFill>
              </a:defRPr>
            </a:pPr>
            <a:r>
              <a:t>Living-off-the-Land Recon</a:t>
            </a:r>
          </a:p>
          <a:p>
            <a:pPr>
              <a:defRPr sz="900">
                <a:solidFill>
                  <a:srgbClr val="E2E8F0"/>
                </a:solidFill>
              </a:defRPr>
            </a:pPr>
            <a:r>
              <a:t>• Country: China (MSS)</a:t>
            </a:r>
            <a:br/>
            <a:r>
              <a:t>• TTPs: Valid Accounts (T1078), System Info</a:t>
            </a:r>
            <a:br/>
            <a:r>
              <a:t>• Target Sectors: Critical Infrastructure, Telecom</a:t>
            </a:r>
            <a:br/>
            <a:r>
              <a:t>• Stealth: Router-to-router proxy mesh</a:t>
            </a:r>
            <a:br/>
            <a:r>
              <a:t>• Infrastructure: router-auth-update.com</a:t>
            </a:r>
          </a:p>
        </p:txBody>
      </p:sp>
      <p:sp>
        <p:nvSpPr>
          <p:cNvPr id="13" name="Rounded Rectangle 12"/>
          <p:cNvSpPr/>
          <p:nvPr/>
        </p:nvSpPr>
        <p:spPr>
          <a:xfrm>
            <a:off x="731520" y="5349240"/>
            <a:ext cx="10728655" cy="868680"/>
          </a:xfrm>
          <a:prstGeom prst="roundRect">
            <a:avLst/>
          </a:prstGeom>
          <a:solidFill>
            <a:srgbClr val="121A2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440680"/>
            <a:ext cx="10271455" cy="685800"/>
          </a:xfrm>
          <a:prstGeom prst="rect">
            <a:avLst/>
          </a:prstGeom>
          <a:noFill/>
        </p:spPr>
        <p:txBody>
          <a:bodyPr wrap="square" lIns="0" tIns="0" rIns="0" bIns="0">
            <a:spAutoFit/>
          </a:bodyPr>
          <a:lstStyle/>
          <a:p>
            <a:pPr>
              <a:defRPr b="1" sz="1000">
                <a:solidFill>
                  <a:srgbClr val="06B6D4"/>
                </a:solidFill>
              </a:defRPr>
            </a:pPr>
            <a:r>
              <a:t>🔍 DISCOVERY VALIDATION: 'OPERATION CLOUDSTORM'</a:t>
            </a:r>
          </a:p>
          <a:p>
            <a:pPr>
              <a:defRPr sz="900">
                <a:solidFill>
                  <a:srgbClr val="E2E8F0"/>
                </a:solidFill>
              </a:defRPr>
            </a:pPr>
            <a:r>
              <a:t>An unclassified candidate campaign was automatically linked to Russian SVR infrastructure (APT29) by the ML Link Prediction Engine with 0.887 confidence, verified through shared C2 domain patterns and common ATT&amp;CK techniques.</a:t>
            </a:r>
          </a:p>
        </p:txBody>
      </p:sp>
      <p:sp>
        <p:nvSpPr>
          <p:cNvPr id="15" name="Rectangle 14"/>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14 of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TECHNOLOGY &amp; DEVOPS</a:t>
            </a:r>
          </a:p>
          <a:p>
            <a:pPr>
              <a:spcAft>
                <a:spcPts val="200"/>
              </a:spcAft>
              <a:defRPr b="1" sz="2100">
                <a:solidFill>
                  <a:srgbClr val="FFFFFF"/>
                </a:solidFill>
              </a:defRPr>
            </a:pPr>
            <a:r>
              <a:t>Modern Enterprise Tech Stack &amp; Turnkey Deployment</a:t>
            </a:r>
          </a:p>
          <a:p>
            <a:pPr>
              <a:defRPr sz="1100">
                <a:solidFill>
                  <a:srgbClr val="94A3B8"/>
                </a:solidFill>
              </a:defRPr>
            </a:pPr>
            <a:r>
              <a:t>Production-ready architecture with 20+ REST API endpoints and one-command containerization</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166360" cy="470916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709160" cy="4343400"/>
          </a:xfrm>
          <a:prstGeom prst="rect">
            <a:avLst/>
          </a:prstGeom>
          <a:noFill/>
        </p:spPr>
        <p:txBody>
          <a:bodyPr wrap="square" lIns="0" tIns="0" rIns="0" bIns="0">
            <a:spAutoFit/>
          </a:bodyPr>
          <a:lstStyle/>
          <a:p>
            <a:pPr>
              <a:spcAft>
                <a:spcPts val="800"/>
              </a:spcAft>
              <a:defRPr b="1" sz="1100">
                <a:solidFill>
                  <a:srgbClr val="06B6D4"/>
                </a:solidFill>
              </a:defRPr>
            </a:pPr>
            <a:r>
              <a:t>PRODUCTION TECHNOLOGY STACK</a:t>
            </a:r>
          </a:p>
          <a:p>
            <a:pPr>
              <a:defRPr b="1" sz="950">
                <a:solidFill>
                  <a:srgbClr val="38BDF8"/>
                </a:solidFill>
              </a:defRPr>
            </a:pPr>
            <a:r>
              <a:t>✔ Backend REST API</a:t>
            </a:r>
          </a:p>
          <a:p>
            <a:pPr>
              <a:spcAft>
                <a:spcPts val="400"/>
              </a:spcAft>
              <a:defRPr sz="850">
                <a:solidFill>
                  <a:srgbClr val="E2E8F0"/>
                </a:solidFill>
              </a:defRPr>
            </a:pPr>
            <a:r>
              <a:t>Python 3.11, FastAPI 0.110, Uvicorn (Async ASGI), Pydantic v2 data models</a:t>
            </a:r>
          </a:p>
          <a:p>
            <a:pPr>
              <a:defRPr b="1" sz="950">
                <a:solidFill>
                  <a:srgbClr val="38BDF8"/>
                </a:solidFill>
              </a:defRPr>
            </a:pPr>
            <a:r>
              <a:t>✔ Knowledge Graph</a:t>
            </a:r>
          </a:p>
          <a:p>
            <a:pPr>
              <a:spcAft>
                <a:spcPts val="400"/>
              </a:spcAft>
              <a:defRPr sz="850">
                <a:solidFill>
                  <a:srgbClr val="E2E8F0"/>
                </a:solidFill>
              </a:defRPr>
            </a:pPr>
            <a:r>
              <a:t>Neo4j 5.18+ (NoSQL Property Graph, Cypher), NetworkX 3.2 (In-Memory GDS)</a:t>
            </a:r>
          </a:p>
          <a:p>
            <a:pPr>
              <a:defRPr b="1" sz="950">
                <a:solidFill>
                  <a:srgbClr val="38BDF8"/>
                </a:solidFill>
              </a:defRPr>
            </a:pPr>
            <a:r>
              <a:t>✔ Machine Learning</a:t>
            </a:r>
          </a:p>
          <a:p>
            <a:pPr>
              <a:spcAft>
                <a:spcPts val="400"/>
              </a:spcAft>
              <a:defRPr sz="850">
                <a:solidFill>
                  <a:srgbClr val="E2E8F0"/>
                </a:solidFill>
              </a:defRPr>
            </a:pPr>
            <a:r>
              <a:t>HDBSCAN (density clustering), scikit-learn, SciPy, NumPy (cosine vectors)</a:t>
            </a:r>
          </a:p>
          <a:p>
            <a:pPr>
              <a:defRPr b="1" sz="950">
                <a:solidFill>
                  <a:srgbClr val="38BDF8"/>
                </a:solidFill>
              </a:defRPr>
            </a:pPr>
            <a:r>
              <a:t>✔ Frontend Web App</a:t>
            </a:r>
          </a:p>
          <a:p>
            <a:pPr>
              <a:spcAft>
                <a:spcPts val="400"/>
              </a:spcAft>
              <a:defRPr sz="850">
                <a:solidFill>
                  <a:srgbClr val="E2E8F0"/>
                </a:solidFill>
              </a:defRPr>
            </a:pPr>
            <a:r>
              <a:t>React 18, TypeScript, Vite, Cytoscape.js 3.28, Tailwind CSS</a:t>
            </a:r>
          </a:p>
          <a:p>
            <a:pPr>
              <a:defRPr b="1" sz="950">
                <a:solidFill>
                  <a:srgbClr val="38BDF8"/>
                </a:solidFill>
              </a:defRPr>
            </a:pPr>
            <a:r>
              <a:t>✔ CTI Standards</a:t>
            </a:r>
          </a:p>
          <a:p>
            <a:pPr>
              <a:spcAft>
                <a:spcPts val="400"/>
              </a:spcAft>
              <a:defRPr sz="850">
                <a:solidFill>
                  <a:srgbClr val="E2E8F0"/>
                </a:solidFill>
              </a:defRPr>
            </a:pPr>
            <a:r>
              <a:t>STIX 2.1 (OASIS Specification), MITRE ATT&amp;CK Framework v14</a:t>
            </a:r>
          </a:p>
          <a:p>
            <a:pPr>
              <a:defRPr b="1" sz="950">
                <a:solidFill>
                  <a:srgbClr val="38BDF8"/>
                </a:solidFill>
              </a:defRPr>
            </a:pPr>
            <a:r>
              <a:t>✔ Turnkey DevOps</a:t>
            </a:r>
          </a:p>
          <a:p>
            <a:pPr>
              <a:spcAft>
                <a:spcPts val="400"/>
              </a:spcAft>
              <a:defRPr sz="850">
                <a:solidFill>
                  <a:srgbClr val="E2E8F0"/>
                </a:solidFill>
              </a:defRPr>
            </a:pPr>
            <a:r>
              <a:t>Docker, Docker Compose multi-container deployment, pytest test suite</a:t>
            </a:r>
          </a:p>
          <a:p>
            <a:pPr>
              <a:defRPr b="1" sz="950">
                <a:solidFill>
                  <a:srgbClr val="10B981"/>
                </a:solidFill>
              </a:defRPr>
            </a:pPr>
            <a:r>
              <a:t>⚡ ONE-COMMAND DOCKER DEPLOYMENT:</a:t>
            </a:r>
          </a:p>
          <a:p>
            <a:pPr>
              <a:defRPr sz="850">
                <a:solidFill>
                  <a:srgbClr val="FFFFFF"/>
                </a:solidFill>
              </a:defRPr>
            </a:pPr>
            <a:r>
              <a:t>$ docker compose up --build  (Launches Neo4j, FastAPI &amp; React UI)</a:t>
            </a:r>
          </a:p>
        </p:txBody>
      </p:sp>
      <p:sp>
        <p:nvSpPr>
          <p:cNvPr id="7" name="Rounded Rectangle 6"/>
          <p:cNvSpPr/>
          <p:nvPr/>
        </p:nvSpPr>
        <p:spPr>
          <a:xfrm>
            <a:off x="6291072" y="1600200"/>
            <a:ext cx="5166360" cy="4709160"/>
          </a:xfrm>
          <a:prstGeom prst="roundRect">
            <a:avLst/>
          </a:prstGeom>
          <a:solidFill>
            <a:srgbClr val="121A2B"/>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73952" y="1673352"/>
            <a:ext cx="4800600" cy="274320"/>
          </a:xfrm>
          <a:prstGeom prst="rect">
            <a:avLst/>
          </a:prstGeom>
          <a:noFill/>
        </p:spPr>
        <p:txBody>
          <a:bodyPr wrap="square" lIns="0" tIns="0" rIns="0" bIns="0">
            <a:spAutoFit/>
          </a:bodyPr>
          <a:lstStyle/>
          <a:p>
            <a:pPr>
              <a:defRPr b="1" sz="1000">
                <a:solidFill>
                  <a:srgbClr val="38BDF8"/>
                </a:solidFill>
              </a:defRPr>
            </a:pPr>
            <a:r>
              <a:t>FASTAPI OPENAPI REST API (20+ ENDPOINTS)</a:t>
            </a:r>
          </a:p>
          <a:p>
            <a:pPr>
              <a:defRPr sz="900">
                <a:solidFill>
                  <a:srgbClr val="06B6D4"/>
                </a:solidFill>
              </a:defRPr>
            </a:pPr>
            <a:r>
              <a:t> [SWAGGER UI]</a:t>
            </a:r>
          </a:p>
        </p:txBody>
      </p:sp>
      <p:pic>
        <p:nvPicPr>
          <p:cNvPr id="9" name="Picture 8" descr="fastapi_swagger_docs_1789920616744.png"/>
          <p:cNvPicPr>
            <a:picLocks noChangeAspect="1"/>
          </p:cNvPicPr>
          <p:nvPr/>
        </p:nvPicPr>
        <p:blipFill>
          <a:blip r:embed="rId2"/>
          <a:stretch>
            <a:fillRect/>
          </a:stretch>
        </p:blipFill>
        <p:spPr>
          <a:xfrm>
            <a:off x="6400800" y="2002536"/>
            <a:ext cx="4946904" cy="4197096"/>
          </a:xfrm>
          <a:prstGeom prst="rect">
            <a:avLst/>
          </a:prstGeom>
        </p:spPr>
      </p:pic>
      <p:sp>
        <p:nvSpPr>
          <p:cNvPr id="10" name="Rectangle 9"/>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15 of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051560"/>
          </a:xfrm>
          <a:prstGeom prst="rect">
            <a:avLst/>
          </a:prstGeom>
          <a:noFill/>
        </p:spPr>
        <p:txBody>
          <a:bodyPr wrap="square" lIns="0" tIns="0" rIns="0" bIns="0">
            <a:spAutoFit/>
          </a:bodyPr>
          <a:lstStyle/>
          <a:p>
            <a:pPr>
              <a:spcAft>
                <a:spcPts val="200"/>
              </a:spcAft>
              <a:defRPr b="1" sz="1000">
                <a:solidFill>
                  <a:srgbClr val="06B6D4"/>
                </a:solidFill>
              </a:defRPr>
            </a:pPr>
            <a:r>
              <a:t>// CONCLUSION &amp; ROADMAP</a:t>
            </a:r>
          </a:p>
          <a:p>
            <a:pPr>
              <a:spcAft>
                <a:spcPts val="200"/>
              </a:spcAft>
              <a:defRPr b="1" sz="2100">
                <a:solidFill>
                  <a:srgbClr val="FFFFFF"/>
                </a:solidFill>
              </a:defRPr>
            </a:pPr>
            <a:r>
              <a:t>SOC Operational Impact &amp; Strategic Future Roadmap</a:t>
            </a:r>
          </a:p>
          <a:p>
            <a:pPr>
              <a:defRPr sz="1100">
                <a:solidFill>
                  <a:srgbClr val="94A3B8"/>
                </a:solidFill>
              </a:defRPr>
            </a:pPr>
            <a:r>
              <a:t>Delivering measurable threat response acceleration while establishing an extensible cyber intelligence foundation</a:t>
            </a:r>
          </a:p>
        </p:txBody>
      </p:sp>
      <p:sp>
        <p:nvSpPr>
          <p:cNvPr id="4" name="Rectangle 3"/>
          <p:cNvSpPr/>
          <p:nvPr/>
        </p:nvSpPr>
        <p:spPr>
          <a:xfrm>
            <a:off x="731520" y="13898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00200"/>
            <a:ext cx="5166360" cy="365760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783080"/>
            <a:ext cx="4709160" cy="3291840"/>
          </a:xfrm>
          <a:prstGeom prst="rect">
            <a:avLst/>
          </a:prstGeom>
          <a:noFill/>
        </p:spPr>
        <p:txBody>
          <a:bodyPr wrap="square" lIns="0" tIns="0" rIns="0" bIns="0">
            <a:spAutoFit/>
          </a:bodyPr>
          <a:lstStyle/>
          <a:p>
            <a:pPr>
              <a:spcAft>
                <a:spcPts val="800"/>
              </a:spcAft>
              <a:defRPr b="1" sz="1100">
                <a:solidFill>
                  <a:srgbClr val="10B981"/>
                </a:solidFill>
              </a:defRPr>
            </a:pPr>
            <a:r>
              <a:t>MEASURED SOC OPERATIONAL IMPACT</a:t>
            </a:r>
          </a:p>
          <a:p>
            <a:pPr>
              <a:defRPr b="1" sz="950">
                <a:solidFill>
                  <a:srgbClr val="FFFFFF"/>
                </a:solidFill>
              </a:defRPr>
            </a:pPr>
            <a:r>
              <a:t>★ 85% Reduction in Triage Time</a:t>
            </a:r>
          </a:p>
          <a:p>
            <a:pPr>
              <a:spcAft>
                <a:spcPts val="300"/>
              </a:spcAft>
              <a:defRPr sz="850">
                <a:solidFill>
                  <a:srgbClr val="E2E8F0"/>
                </a:solidFill>
              </a:defRPr>
            </a:pPr>
            <a:r>
              <a:t>Automated parsing, defanging, and alias resolution eliminates hours of manual spreadsheet tracking per advisory.</a:t>
            </a:r>
          </a:p>
          <a:p>
            <a:pPr>
              <a:defRPr b="1" sz="950">
                <a:solidFill>
                  <a:srgbClr val="FFFFFF"/>
                </a:solidFill>
              </a:defRPr>
            </a:pPr>
            <a:r>
              <a:t>★ Eliminates Intelligence Silos</a:t>
            </a:r>
          </a:p>
          <a:p>
            <a:pPr>
              <a:spcAft>
                <a:spcPts val="300"/>
              </a:spcAft>
              <a:defRPr sz="850">
                <a:solidFill>
                  <a:srgbClr val="E2E8F0"/>
                </a:solidFill>
              </a:defRPr>
            </a:pPr>
            <a:r>
              <a:t>Unifies CISA, Mandiant, and internal threat reports into one connected STIX 2.1 graph.</a:t>
            </a:r>
          </a:p>
          <a:p>
            <a:pPr>
              <a:defRPr b="1" sz="950">
                <a:solidFill>
                  <a:srgbClr val="FFFFFF"/>
                </a:solidFill>
              </a:defRPr>
            </a:pPr>
            <a:r>
              <a:t>★ Proactive Shared Infrastructure Defense</a:t>
            </a:r>
          </a:p>
          <a:p>
            <a:pPr>
              <a:spcAft>
                <a:spcPts val="300"/>
              </a:spcAft>
              <a:defRPr sz="850">
                <a:solidFill>
                  <a:srgbClr val="E2E8F0"/>
                </a:solidFill>
              </a:defRPr>
            </a:pPr>
            <a:r>
              <a:t>Exposes shared C2 hops before adversaries execute lateral movement or payload delivery.</a:t>
            </a:r>
          </a:p>
          <a:p>
            <a:pPr>
              <a:defRPr b="1" sz="950">
                <a:solidFill>
                  <a:srgbClr val="FFFFFF"/>
                </a:solidFill>
              </a:defRPr>
            </a:pPr>
            <a:r>
              <a:t>★ SIEM / SOAR Enrichment Ready</a:t>
            </a:r>
          </a:p>
          <a:p>
            <a:pPr>
              <a:spcAft>
                <a:spcPts val="300"/>
              </a:spcAft>
              <a:defRPr sz="850">
                <a:solidFill>
                  <a:srgbClr val="E2E8F0"/>
                </a:solidFill>
              </a:defRPr>
            </a:pPr>
            <a:r>
              <a:t>20+ REST API endpoints allow seamless automated enrichment for Splunk, Sentinel, and Cortex.</a:t>
            </a:r>
          </a:p>
        </p:txBody>
      </p:sp>
      <p:sp>
        <p:nvSpPr>
          <p:cNvPr id="7" name="Rounded Rectangle 6"/>
          <p:cNvSpPr/>
          <p:nvPr/>
        </p:nvSpPr>
        <p:spPr>
          <a:xfrm>
            <a:off x="6291072" y="1600200"/>
            <a:ext cx="5166360" cy="3657600"/>
          </a:xfrm>
          <a:prstGeom prst="roundRect">
            <a:avLst/>
          </a:prstGeom>
          <a:solidFill>
            <a:srgbClr val="172135"/>
          </a:solidFill>
          <a:ln w="12700">
            <a:solidFill>
              <a:srgbClr val="2D3C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19672" y="1783080"/>
            <a:ext cx="4709160" cy="3291840"/>
          </a:xfrm>
          <a:prstGeom prst="rect">
            <a:avLst/>
          </a:prstGeom>
          <a:noFill/>
        </p:spPr>
        <p:txBody>
          <a:bodyPr wrap="square" lIns="0" tIns="0" rIns="0" bIns="0">
            <a:spAutoFit/>
          </a:bodyPr>
          <a:lstStyle/>
          <a:p>
            <a:pPr>
              <a:spcAft>
                <a:spcPts val="800"/>
              </a:spcAft>
              <a:defRPr b="1" sz="1100">
                <a:solidFill>
                  <a:srgbClr val="38BDF8"/>
                </a:solidFill>
              </a:defRPr>
            </a:pPr>
            <a:r>
              <a:t>STRATEGIC FUTURE ROADMAP</a:t>
            </a:r>
          </a:p>
          <a:p>
            <a:pPr>
              <a:defRPr b="1" sz="950">
                <a:solidFill>
                  <a:srgbClr val="06B6D4"/>
                </a:solidFill>
              </a:defRPr>
            </a:pPr>
            <a:r>
              <a:t>🚀 Real-Time Kafka Streaming</a:t>
            </a:r>
          </a:p>
          <a:p>
            <a:pPr>
              <a:spcAft>
                <a:spcPts val="300"/>
              </a:spcAft>
              <a:defRPr sz="850">
                <a:solidFill>
                  <a:srgbClr val="E2E8F0"/>
                </a:solidFill>
              </a:defRPr>
            </a:pPr>
            <a:r>
              <a:t>Live streaming ingestion pipeline connecting AlienVault OTX, MISP feeds, and Twitter OSINT.</a:t>
            </a:r>
          </a:p>
          <a:p>
            <a:pPr>
              <a:defRPr b="1" sz="950">
                <a:solidFill>
                  <a:srgbClr val="06B6D4"/>
                </a:solidFill>
              </a:defRPr>
            </a:pPr>
            <a:r>
              <a:t>🚀 Relational Graph Convolutional Networks (R-GCN)</a:t>
            </a:r>
          </a:p>
          <a:p>
            <a:pPr>
              <a:spcAft>
                <a:spcPts val="300"/>
              </a:spcAft>
              <a:defRPr sz="850">
                <a:solidFill>
                  <a:srgbClr val="E2E8F0"/>
                </a:solidFill>
              </a:defRPr>
            </a:pPr>
            <a:r>
              <a:t>Deep geometric deep learning embeddings for continuous link prediction across typed edges.</a:t>
            </a:r>
          </a:p>
          <a:p>
            <a:pPr>
              <a:defRPr b="1" sz="950">
                <a:solidFill>
                  <a:srgbClr val="06B6D4"/>
                </a:solidFill>
              </a:defRPr>
            </a:pPr>
            <a:r>
              <a:t>🚀 Automated SOAR Playbook Generation</a:t>
            </a:r>
          </a:p>
          <a:p>
            <a:pPr>
              <a:spcAft>
                <a:spcPts val="300"/>
              </a:spcAft>
              <a:defRPr sz="850">
                <a:solidFill>
                  <a:srgbClr val="E2E8F0"/>
                </a:solidFill>
              </a:defRPr>
            </a:pPr>
            <a:r>
              <a:t>Trigger automatic firewall rule updates and EDR isolation policies based on predicted graph links.</a:t>
            </a:r>
          </a:p>
          <a:p>
            <a:pPr>
              <a:defRPr b="1" sz="950">
                <a:solidFill>
                  <a:srgbClr val="06B6D4"/>
                </a:solidFill>
              </a:defRPr>
            </a:pPr>
            <a:r>
              <a:t>🚀 Local Air-Gapped LLM Reasoning</a:t>
            </a:r>
          </a:p>
          <a:p>
            <a:pPr>
              <a:spcAft>
                <a:spcPts val="300"/>
              </a:spcAft>
              <a:defRPr sz="850">
                <a:solidFill>
                  <a:srgbClr val="E2E8F0"/>
                </a:solidFill>
              </a:defRPr>
            </a:pPr>
            <a:r>
              <a:t>Ollama/vLLM integration for offline natural-language Cypher queries without data leakage.</a:t>
            </a:r>
          </a:p>
        </p:txBody>
      </p:sp>
      <p:sp>
        <p:nvSpPr>
          <p:cNvPr id="9" name="Rounded Rectangle 8"/>
          <p:cNvSpPr/>
          <p:nvPr/>
        </p:nvSpPr>
        <p:spPr>
          <a:xfrm>
            <a:off x="731520" y="5440680"/>
            <a:ext cx="10728655" cy="777240"/>
          </a:xfrm>
          <a:prstGeom prst="roundRect">
            <a:avLst/>
          </a:prstGeom>
          <a:solidFill>
            <a:srgbClr val="121A2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5532120"/>
            <a:ext cx="10271455" cy="594360"/>
          </a:xfrm>
          <a:prstGeom prst="rect">
            <a:avLst/>
          </a:prstGeom>
          <a:noFill/>
        </p:spPr>
        <p:txBody>
          <a:bodyPr wrap="square" lIns="0" tIns="0" rIns="0" bIns="0">
            <a:spAutoFit/>
          </a:bodyPr>
          <a:lstStyle/>
          <a:p>
            <a:pPr>
              <a:defRPr b="1" sz="1050">
                <a:solidFill>
                  <a:srgbClr val="FFFFFF"/>
                </a:solidFill>
              </a:defRPr>
            </a:pPr>
            <a:r>
              <a:t>🔗 OPEN SOURCE REPOSITORY: github.com/abhinav260506/osint-threat-intelligence-graph</a:t>
            </a:r>
          </a:p>
          <a:p>
            <a:pPr>
              <a:defRPr sz="900">
                <a:solidFill>
                  <a:srgbClr val="06B6D4"/>
                </a:solidFill>
              </a:defRPr>
            </a:pPr>
            <a:r>
              <a:t>Licensed under MIT License  |  ThreatGraph AI — Making threat intelligence explainable, connected, and actionable.</a:t>
            </a:r>
          </a:p>
        </p:txBody>
      </p:sp>
      <p:sp>
        <p:nvSpPr>
          <p:cNvPr id="11" name="Rectangle 10"/>
          <p:cNvSpPr/>
          <p:nvPr/>
        </p:nvSpPr>
        <p:spPr>
          <a:xfrm>
            <a:off x="731520" y="6419088"/>
            <a:ext cx="10728655" cy="13716"/>
          </a:xfrm>
          <a:prstGeom prst="rect">
            <a:avLst/>
          </a:prstGeom>
          <a:solidFill>
            <a:srgbClr val="2D3C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473952"/>
            <a:ext cx="10728655" cy="292608"/>
          </a:xfrm>
          <a:prstGeom prst="rect">
            <a:avLst/>
          </a:prstGeom>
          <a:noFill/>
        </p:spPr>
        <p:txBody>
          <a:bodyPr wrap="square" lIns="0" tIns="0" rIns="0" bIns="0">
            <a:spAutoFit/>
          </a:bodyPr>
          <a:lstStyle/>
          <a:p>
            <a:pPr>
              <a:defRPr sz="900">
                <a:solidFill>
                  <a:srgbClr val="64748B"/>
                </a:solidFill>
              </a:defRPr>
            </a:pPr>
            <a:r>
              <a:t>ThreatGraph AI  •  OSINT Threat Intelligence &amp; Graph Data Science Platform        |        Slide 16 of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